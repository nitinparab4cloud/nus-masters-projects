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5"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8" r:id="rId11"/>
    <p:sldId id="269" r:id="rId12"/>
    <p:sldId id="265" r:id="rId13"/>
    <p:sldId id="272" r:id="rId14"/>
    <p:sldId id="267" r:id="rId15"/>
    <p:sldId id="270" r:id="rId16"/>
    <p:sldId id="271" r:id="rId17"/>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4596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7B596-F3EF-3E94-E07E-65CE8A0A5B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664C7-5BD8-EE06-9103-0B0C2AC6FA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C6413-E051-0A64-CADE-C35AB53D23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F4D3CA-2855-12A0-67A9-3EF73E30030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812763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4BF6A-5D3D-EDEA-1664-2CCC13907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B27A6-5232-E79A-B0F5-72E80914C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9265A-CC45-5C9A-F0F2-95BCD7C14C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32C1F9-8A62-03D8-2468-779E9751CD8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7016383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2A6A2-C599-FB11-8665-C2CDEEE07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FAB517-10ED-CE12-5243-269FE1720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EFD3EA-3555-EF1B-95B5-671F12317A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04F5ED-81B9-8B21-C7F6-9BF43878812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8817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24145218"/>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0450616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7680056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6937333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8696973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8467738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826865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713677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416213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5660298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7110229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7978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C764DE79-268F-4C1A-8933-263129D2AF90}" type="datetimeFigureOut">
              <a:rPr lang="en-US" smtClean="0"/>
              <a:t>4/21/2026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491274704"/>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bg>
      <p:bgPr>
        <a:solidFill>
          <a:srgbClr val="002060"/>
        </a:solidFill>
        <a:effectLst/>
      </p:bgPr>
    </p:bg>
    <p:spTree>
      <p:nvGrpSpPr>
        <p:cNvPr id="1" name=""/>
        <p:cNvGrpSpPr/>
        <p:nvPr/>
      </p:nvGrpSpPr>
      <p:grpSpPr>
        <a:xfrm>
          <a:off x="0" y="0"/>
          <a:ext cx="0" cy="0"/>
          <a:chOff x="0" y="0"/>
          <a:chExt cx="0" cy="0"/>
        </a:xfrm>
      </p:grpSpPr>
      <p:sp>
        <p:nvSpPr>
          <p:cNvPr id="2" name="Text 0"/>
          <p:cNvSpPr/>
          <p:nvPr/>
        </p:nvSpPr>
        <p:spPr>
          <a:xfrm>
            <a:off x="274320" y="-182880"/>
            <a:ext cx="1828800" cy="1828800"/>
          </a:xfrm>
          <a:prstGeom prst="rect">
            <a:avLst/>
          </a:prstGeom>
          <a:noFill/>
          <a:ln/>
        </p:spPr>
        <p:txBody>
          <a:bodyPr wrap="square" lIns="0" tIns="0" rIns="0" bIns="0" rtlCol="0" anchor="ctr"/>
          <a:lstStyle/>
          <a:p>
            <a:pPr marL="0" indent="0">
              <a:buNone/>
            </a:pPr>
            <a:endParaRPr lang="en-US" sz="18000" dirty="0"/>
          </a:p>
        </p:txBody>
      </p:sp>
      <p:sp>
        <p:nvSpPr>
          <p:cNvPr id="3" name="Text 1"/>
          <p:cNvSpPr/>
          <p:nvPr/>
        </p:nvSpPr>
        <p:spPr>
          <a:xfrm>
            <a:off x="548640" y="1417320"/>
            <a:ext cx="7772400" cy="274320"/>
          </a:xfrm>
          <a:prstGeom prst="rect">
            <a:avLst/>
          </a:prstGeom>
          <a:noFill/>
          <a:ln/>
        </p:spPr>
        <p:txBody>
          <a:bodyPr wrap="square" lIns="0" tIns="0" rIns="0" bIns="0" rtlCol="0" anchor="ctr"/>
          <a:lstStyle/>
          <a:p>
            <a:pPr marL="0" indent="0">
              <a:buNone/>
            </a:pPr>
            <a:r>
              <a:rPr lang="en-US" sz="1100" b="1" kern="0" spc="600" dirty="0">
                <a:solidFill>
                  <a:srgbClr val="C9A34E"/>
                </a:solidFill>
                <a:latin typeface="Calibri" pitchFamily="34" charset="0"/>
                <a:ea typeface="Calibri" pitchFamily="34" charset="-122"/>
                <a:cs typeface="Calibri" pitchFamily="34" charset="-120"/>
              </a:rPr>
              <a:t>LL5532X</a:t>
            </a:r>
            <a:endParaRPr lang="en-US" sz="1100" dirty="0"/>
          </a:p>
        </p:txBody>
      </p:sp>
      <p:sp>
        <p:nvSpPr>
          <p:cNvPr id="4" name="Text 2"/>
          <p:cNvSpPr/>
          <p:nvPr/>
        </p:nvSpPr>
        <p:spPr>
          <a:xfrm>
            <a:off x="548640" y="1737360"/>
            <a:ext cx="8229600" cy="155448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Did Victorian Courts Treat</a:t>
            </a:r>
            <a:endParaRPr lang="en-US" sz="3400" dirty="0"/>
          </a:p>
          <a:p>
            <a:pPr marL="0" indent="0">
              <a:buNone/>
            </a:pPr>
            <a:r>
              <a:rPr lang="en-US" sz="3400" b="1" dirty="0">
                <a:solidFill>
                  <a:srgbClr val="FFFFFF"/>
                </a:solidFill>
                <a:latin typeface="Georgia" pitchFamily="34" charset="0"/>
                <a:ea typeface="Georgia" pitchFamily="34" charset="-122"/>
                <a:cs typeface="Georgia" pitchFamily="34" charset="-120"/>
              </a:rPr>
              <a:t>Male-on-Female Cases Differently?</a:t>
            </a:r>
            <a:endParaRPr lang="en-US" sz="3400" dirty="0"/>
          </a:p>
        </p:txBody>
      </p:sp>
      <p:sp>
        <p:nvSpPr>
          <p:cNvPr id="5" name="Text 3"/>
          <p:cNvSpPr/>
          <p:nvPr/>
        </p:nvSpPr>
        <p:spPr>
          <a:xfrm>
            <a:off x="914400" y="3246120"/>
            <a:ext cx="8229600" cy="365760"/>
          </a:xfrm>
          <a:prstGeom prst="rect">
            <a:avLst/>
          </a:prstGeom>
          <a:noFill/>
          <a:ln/>
        </p:spPr>
        <p:txBody>
          <a:bodyPr wrap="square" lIns="0" tIns="0" rIns="0" bIns="0" rtlCol="0" anchor="ctr"/>
          <a:lstStyle/>
          <a:p>
            <a:pPr marL="0" indent="0">
              <a:buNone/>
            </a:pPr>
            <a:r>
              <a:rPr lang="en-US" sz="1500" i="1" dirty="0">
                <a:solidFill>
                  <a:srgbClr val="ECE2D0"/>
                </a:solidFill>
                <a:latin typeface="Georgia" pitchFamily="34" charset="0"/>
                <a:ea typeface="Georgia" pitchFamily="34" charset="-122"/>
                <a:cs typeface="Georgia" pitchFamily="34" charset="-120"/>
              </a:rPr>
              <a:t>A legal reading of 6,945 Old Bailey guilty verdicts</a:t>
            </a:r>
            <a:endParaRPr lang="en-US" sz="1500" dirty="0"/>
          </a:p>
        </p:txBody>
      </p:sp>
      <p:sp>
        <p:nvSpPr>
          <p:cNvPr id="6" name="Shape 4"/>
          <p:cNvSpPr/>
          <p:nvPr/>
        </p:nvSpPr>
        <p:spPr>
          <a:xfrm>
            <a:off x="548639" y="4114800"/>
            <a:ext cx="7917443" cy="0"/>
          </a:xfrm>
          <a:prstGeom prst="line">
            <a:avLst/>
          </a:prstGeom>
          <a:noFill/>
          <a:ln w="25400">
            <a:solidFill>
              <a:srgbClr val="C9A34E"/>
            </a:solidFill>
            <a:prstDash val="solid"/>
          </a:ln>
        </p:spPr>
        <p:txBody>
          <a:bodyPr/>
          <a:lstStyle/>
          <a:p>
            <a:endParaRPr lang="en-SG"/>
          </a:p>
        </p:txBody>
      </p:sp>
      <p:sp>
        <p:nvSpPr>
          <p:cNvPr id="7" name="Text 5"/>
          <p:cNvSpPr/>
          <p:nvPr/>
        </p:nvSpPr>
        <p:spPr>
          <a:xfrm>
            <a:off x="548640" y="3703320"/>
            <a:ext cx="8229600" cy="274320"/>
          </a:xfrm>
          <a:prstGeom prst="rect">
            <a:avLst/>
          </a:prstGeom>
          <a:noFill/>
          <a:ln/>
        </p:spPr>
        <p:txBody>
          <a:bodyPr wrap="square" lIns="0" tIns="0" rIns="0" bIns="0" rtlCol="0" anchor="ctr"/>
          <a:lstStyle/>
          <a:p>
            <a:pPr marL="0" indent="0">
              <a:buNone/>
            </a:pPr>
            <a:r>
              <a:rPr lang="en-US" sz="1100" dirty="0">
                <a:solidFill>
                  <a:srgbClr val="ECE2D0"/>
                </a:solidFill>
                <a:latin typeface="Calibri" pitchFamily="34" charset="0"/>
                <a:ea typeface="Calibri" pitchFamily="34" charset="-122"/>
                <a:cs typeface="Calibri" pitchFamily="34" charset="-120"/>
              </a:rPr>
              <a:t>After Conditioning on observable guilty cases, does a male-defendant/female-victim case configuration causally affect sentence severity? </a:t>
            </a:r>
            <a:endParaRPr lang="en-US" sz="1100" dirty="0"/>
          </a:p>
        </p:txBody>
      </p:sp>
      <p:sp>
        <p:nvSpPr>
          <p:cNvPr id="9" name="TextBox 8">
            <a:extLst>
              <a:ext uri="{FF2B5EF4-FFF2-40B4-BE49-F238E27FC236}">
                <a16:creationId xmlns:a16="http://schemas.microsoft.com/office/drawing/2014/main" id="{FFA13F49-1020-7B2F-4705-D0EF67BC8817}"/>
              </a:ext>
            </a:extLst>
          </p:cNvPr>
          <p:cNvSpPr txBox="1"/>
          <p:nvPr/>
        </p:nvSpPr>
        <p:spPr>
          <a:xfrm>
            <a:off x="7132320" y="4667697"/>
            <a:ext cx="4572000" cy="369332"/>
          </a:xfrm>
          <a:prstGeom prst="rect">
            <a:avLst/>
          </a:prstGeom>
          <a:noFill/>
        </p:spPr>
        <p:txBody>
          <a:bodyPr wrap="square">
            <a:spAutoFit/>
          </a:bodyPr>
          <a:lstStyle/>
          <a:p>
            <a:pPr marL="0" indent="0">
              <a:buNone/>
            </a:pPr>
            <a:r>
              <a:rPr lang="en-US" sz="1800" i="1" dirty="0">
                <a:solidFill>
                  <a:srgbClr val="ECE2D0"/>
                </a:solidFill>
                <a:latin typeface="Georgia" pitchFamily="34" charset="0"/>
                <a:ea typeface="Georgia" pitchFamily="34" charset="-122"/>
                <a:cs typeface="Georgia" pitchFamily="34" charset="-120"/>
              </a:rPr>
              <a:t>Kalyani Pakhale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AF6"/>
        </a:solidFill>
        <a:effectLst/>
      </p:bgPr>
    </p:bg>
    <p:spTree>
      <p:nvGrpSpPr>
        <p:cNvPr id="1" name=""/>
        <p:cNvGrpSpPr/>
        <p:nvPr/>
      </p:nvGrpSpPr>
      <p:grpSpPr>
        <a:xfrm>
          <a:off x="0" y="0"/>
          <a:ext cx="0" cy="0"/>
          <a:chOff x="0" y="0"/>
          <a:chExt cx="0" cy="0"/>
        </a:xfrm>
      </p:grpSpPr>
      <p:sp>
        <p:nvSpPr>
          <p:cNvPr id="5" name="Text 3"/>
          <p:cNvSpPr/>
          <p:nvPr/>
        </p:nvSpPr>
        <p:spPr>
          <a:xfrm>
            <a:off x="1005840" y="320040"/>
            <a:ext cx="7315200" cy="201168"/>
          </a:xfrm>
          <a:prstGeom prst="rect">
            <a:avLst/>
          </a:prstGeom>
          <a:noFill/>
          <a:ln/>
        </p:spPr>
        <p:txBody>
          <a:bodyPr wrap="square" lIns="0" tIns="0" rIns="0" bIns="0" rtlCol="0" anchor="ctr"/>
          <a:lstStyle/>
          <a:p>
            <a:pPr marL="0" indent="0">
              <a:buNone/>
            </a:pPr>
            <a:r>
              <a:rPr lang="en-US" sz="1000" b="1" kern="0" spc="400" dirty="0">
                <a:solidFill>
                  <a:srgbClr val="C9A34E"/>
                </a:solidFill>
                <a:latin typeface="Calibri" pitchFamily="34" charset="0"/>
                <a:ea typeface="Calibri" pitchFamily="34" charset="-122"/>
                <a:cs typeface="Calibri" pitchFamily="34" charset="-120"/>
              </a:rPr>
              <a:t>THE BASELINE</a:t>
            </a:r>
            <a:endParaRPr lang="en-US" sz="1000" dirty="0"/>
          </a:p>
        </p:txBody>
      </p:sp>
      <p:sp>
        <p:nvSpPr>
          <p:cNvPr id="6" name="Text 4"/>
          <p:cNvSpPr/>
          <p:nvPr/>
        </p:nvSpPr>
        <p:spPr>
          <a:xfrm>
            <a:off x="1005840" y="512064"/>
            <a:ext cx="7680960" cy="457200"/>
          </a:xfrm>
          <a:prstGeom prst="rect">
            <a:avLst/>
          </a:prstGeom>
          <a:noFill/>
          <a:ln/>
        </p:spPr>
        <p:txBody>
          <a:bodyPr wrap="square" lIns="0" tIns="0" rIns="0" bIns="0" rtlCol="0" anchor="ctr"/>
          <a:lstStyle/>
          <a:p>
            <a:pPr marL="0" indent="0">
              <a:buNone/>
            </a:pPr>
            <a:r>
              <a:rPr lang="en-US" sz="2200" b="1" dirty="0">
                <a:solidFill>
                  <a:srgbClr val="1F1A24"/>
                </a:solidFill>
                <a:latin typeface="Georgia" pitchFamily="34" charset="0"/>
                <a:ea typeface="Georgia" pitchFamily="34" charset="-122"/>
                <a:cs typeface="Georgia" pitchFamily="34" charset="-120"/>
              </a:rPr>
              <a:t>What sentences did these courts hand down?</a:t>
            </a:r>
            <a:endParaRPr lang="en-US" sz="2200" dirty="0"/>
          </a:p>
        </p:txBody>
      </p:sp>
      <p:pic>
        <p:nvPicPr>
          <p:cNvPr id="7" name="Image 0" descr="/home/claude/viz_ladder.png"/>
          <p:cNvPicPr>
            <a:picLocks noChangeAspect="1"/>
          </p:cNvPicPr>
          <p:nvPr/>
        </p:nvPicPr>
        <p:blipFill>
          <a:blip r:embed="rId3"/>
          <a:stretch>
            <a:fillRect/>
          </a:stretch>
        </p:blipFill>
        <p:spPr>
          <a:xfrm>
            <a:off x="1377362" y="1161288"/>
            <a:ext cx="6045413" cy="2171700"/>
          </a:xfrm>
          <a:prstGeom prst="rect">
            <a:avLst/>
          </a:prstGeom>
        </p:spPr>
      </p:pic>
      <p:sp>
        <p:nvSpPr>
          <p:cNvPr id="9" name="Text 6"/>
          <p:cNvSpPr/>
          <p:nvPr/>
        </p:nvSpPr>
        <p:spPr>
          <a:xfrm>
            <a:off x="762000" y="3289554"/>
            <a:ext cx="7863840" cy="502920"/>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Over half of guilty verdicts ended in hard labour. Non-custodial and capital sentences were the outliers at either extreme.</a:t>
            </a:r>
            <a:endParaRPr lang="en-US" sz="1100" dirty="0"/>
          </a:p>
        </p:txBody>
      </p:sp>
      <p:sp>
        <p:nvSpPr>
          <p:cNvPr id="10" name="Text 7"/>
          <p:cNvSpPr/>
          <p:nvPr/>
        </p:nvSpPr>
        <p:spPr>
          <a:xfrm>
            <a:off x="457200" y="4846320"/>
            <a:ext cx="8229600" cy="182880"/>
          </a:xfrm>
          <a:prstGeom prst="rect">
            <a:avLst/>
          </a:prstGeom>
          <a:noFill/>
          <a:ln/>
        </p:spPr>
        <p:txBody>
          <a:bodyPr wrap="square" lIns="0" tIns="0" rIns="0" bIns="0" rtlCol="0" anchor="ctr"/>
          <a:lstStyle/>
          <a:p>
            <a:pPr marL="0" indent="0" algn="l">
              <a:buNone/>
            </a:pPr>
            <a:endParaRPr lang="en-US" sz="900" dirty="0"/>
          </a:p>
        </p:txBody>
      </p:sp>
      <p:sp>
        <p:nvSpPr>
          <p:cNvPr id="12" name="TextBox 11">
            <a:extLst>
              <a:ext uri="{FF2B5EF4-FFF2-40B4-BE49-F238E27FC236}">
                <a16:creationId xmlns:a16="http://schemas.microsoft.com/office/drawing/2014/main" id="{349DDDAE-6CC1-33B3-D2EB-6EB873E0E88B}"/>
              </a:ext>
            </a:extLst>
          </p:cNvPr>
          <p:cNvSpPr txBox="1"/>
          <p:nvPr/>
        </p:nvSpPr>
        <p:spPr>
          <a:xfrm>
            <a:off x="525780" y="3757466"/>
            <a:ext cx="8328659" cy="1012328"/>
          </a:xfrm>
          <a:prstGeom prst="rect">
            <a:avLst/>
          </a:prstGeom>
          <a:noFill/>
        </p:spPr>
        <p:txBody>
          <a:bodyPr wrap="square">
            <a:spAutoFit/>
          </a:bodyPr>
          <a:lstStyle/>
          <a:p>
            <a:pPr>
              <a:lnSpc>
                <a:spcPct val="108000"/>
              </a:lnSpc>
              <a:spcAft>
                <a:spcPts val="400"/>
              </a:spcAft>
              <a:buNone/>
            </a:pPr>
            <a:r>
              <a:rPr lang="en-SG" sz="1400" dirty="0">
                <a:effectLst/>
                <a:latin typeface="Calibri" panose="020F0502020204030204" pitchFamily="34" charset="0"/>
                <a:ea typeface="Calibri" panose="020F0502020204030204" pitchFamily="34" charset="0"/>
              </a:rPr>
              <a:t>The corpus covers 6,945 guilty verdicts from the old bailey online, encoded with </a:t>
            </a:r>
            <a:r>
              <a:rPr lang="en-SG" sz="1400" dirty="0" err="1">
                <a:effectLst/>
                <a:latin typeface="Calibri" panose="020F0502020204030204" pitchFamily="34" charset="0"/>
                <a:ea typeface="Calibri" panose="020F0502020204030204" pitchFamily="34" charset="0"/>
              </a:rPr>
              <a:t>nlp</a:t>
            </a:r>
            <a:r>
              <a:rPr lang="en-SG" sz="1400" dirty="0">
                <a:effectLst/>
                <a:latin typeface="Calibri" panose="020F0502020204030204" pitchFamily="34" charset="0"/>
                <a:ea typeface="Calibri" panose="020F0502020204030204" pitchFamily="34" charset="0"/>
              </a:rPr>
              <a:t>-derived features (POS counts, named-entity counts, sentiment polarity, readability indices, 10-topic LDA probabilities) alongside structured flags for defendant and victim gender. Sentence severity is encoded on a four-level ordinal scale: non-custodial, custodial, hard-labour, capital/transportation.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AF6"/>
        </a:solidFill>
        <a:effectLst/>
      </p:bgPr>
    </p:bg>
    <p:spTree>
      <p:nvGrpSpPr>
        <p:cNvPr id="1" name=""/>
        <p:cNvGrpSpPr/>
        <p:nvPr/>
      </p:nvGrpSpPr>
      <p:grpSpPr>
        <a:xfrm>
          <a:off x="0" y="0"/>
          <a:ext cx="0" cy="0"/>
          <a:chOff x="0" y="0"/>
          <a:chExt cx="0" cy="0"/>
        </a:xfrm>
      </p:grpSpPr>
      <p:sp>
        <p:nvSpPr>
          <p:cNvPr id="6" name="Text 4"/>
          <p:cNvSpPr/>
          <p:nvPr/>
        </p:nvSpPr>
        <p:spPr>
          <a:xfrm>
            <a:off x="777240" y="207264"/>
            <a:ext cx="7680960" cy="457200"/>
          </a:xfrm>
          <a:prstGeom prst="rect">
            <a:avLst/>
          </a:prstGeom>
          <a:noFill/>
          <a:ln/>
        </p:spPr>
        <p:txBody>
          <a:bodyPr wrap="square" lIns="0" tIns="0" rIns="0" bIns="0" rtlCol="0" anchor="ctr"/>
          <a:lstStyle/>
          <a:p>
            <a:pPr marL="0" indent="0">
              <a:buNone/>
            </a:pPr>
            <a:r>
              <a:rPr lang="en-US" sz="2200" b="1" dirty="0">
                <a:solidFill>
                  <a:srgbClr val="1F1A24"/>
                </a:solidFill>
                <a:latin typeface="Georgia" pitchFamily="34" charset="0"/>
                <a:ea typeface="Georgia" pitchFamily="34" charset="-122"/>
                <a:cs typeface="Georgia" pitchFamily="34" charset="-120"/>
              </a:rPr>
              <a:t>Did the two groups get different sentences?</a:t>
            </a:r>
            <a:endParaRPr lang="en-US" sz="2200" dirty="0"/>
          </a:p>
        </p:txBody>
      </p:sp>
      <p:sp>
        <p:nvSpPr>
          <p:cNvPr id="8" name="Shape 5"/>
          <p:cNvSpPr/>
          <p:nvPr/>
        </p:nvSpPr>
        <p:spPr>
          <a:xfrm>
            <a:off x="6568440" y="1710690"/>
            <a:ext cx="2514600" cy="2232660"/>
          </a:xfrm>
          <a:prstGeom prst="rect">
            <a:avLst/>
          </a:prstGeom>
          <a:solidFill>
            <a:srgbClr val="FFFFFF"/>
          </a:solidFill>
          <a:ln w="12700">
            <a:solidFill>
              <a:srgbClr val="ECE2D0"/>
            </a:solidFill>
            <a:prstDash val="solid"/>
          </a:ln>
          <a:effectLst>
            <a:outerShdw blurRad="127000" dist="38100" dir="8100000" algn="bl" rotWithShape="0">
              <a:srgbClr val="000000">
                <a:alpha val="8000"/>
              </a:srgbClr>
            </a:outerShdw>
          </a:effectLst>
        </p:spPr>
        <p:txBody>
          <a:bodyPr/>
          <a:lstStyle/>
          <a:p>
            <a:endParaRPr lang="en-SG"/>
          </a:p>
        </p:txBody>
      </p:sp>
      <p:sp>
        <p:nvSpPr>
          <p:cNvPr id="9" name="Text 6"/>
          <p:cNvSpPr/>
          <p:nvPr/>
        </p:nvSpPr>
        <p:spPr>
          <a:xfrm>
            <a:off x="6705600" y="1847850"/>
            <a:ext cx="2377440" cy="274320"/>
          </a:xfrm>
          <a:prstGeom prst="rect">
            <a:avLst/>
          </a:prstGeom>
          <a:noFill/>
          <a:ln/>
        </p:spPr>
        <p:txBody>
          <a:bodyPr wrap="square" lIns="0" tIns="0" rIns="0" bIns="0" rtlCol="0" anchor="ctr"/>
          <a:lstStyle/>
          <a:p>
            <a:pPr marL="0" indent="0">
              <a:buNone/>
            </a:pPr>
            <a:r>
              <a:rPr lang="en-US" sz="1400" b="1" dirty="0">
                <a:solidFill>
                  <a:srgbClr val="6D2E46"/>
                </a:solidFill>
                <a:latin typeface="Georgia" pitchFamily="34" charset="0"/>
                <a:ea typeface="Georgia" pitchFamily="34" charset="-122"/>
                <a:cs typeface="Georgia" pitchFamily="34" charset="-120"/>
              </a:rPr>
              <a:t>A U-shaped shift</a:t>
            </a:r>
            <a:endParaRPr lang="en-US" sz="1400" dirty="0"/>
          </a:p>
        </p:txBody>
      </p:sp>
      <p:sp>
        <p:nvSpPr>
          <p:cNvPr id="10" name="Text 7"/>
          <p:cNvSpPr/>
          <p:nvPr/>
        </p:nvSpPr>
        <p:spPr>
          <a:xfrm>
            <a:off x="6705600" y="2259330"/>
            <a:ext cx="2377440" cy="1577340"/>
          </a:xfrm>
          <a:prstGeom prst="rect">
            <a:avLst/>
          </a:prstGeom>
          <a:noFill/>
          <a:ln/>
        </p:spPr>
        <p:txBody>
          <a:bodyPr wrap="square" lIns="0" tIns="0" rIns="0" bIns="0" rtlCol="0" anchor="t"/>
          <a:lstStyle/>
          <a:p>
            <a:pPr marL="0" indent="0">
              <a:buNone/>
            </a:pPr>
            <a:r>
              <a:rPr lang="en-US" sz="1050" dirty="0">
                <a:solidFill>
                  <a:srgbClr val="1F1A24"/>
                </a:solidFill>
                <a:latin typeface="Calibri" pitchFamily="34" charset="0"/>
                <a:ea typeface="Calibri" pitchFamily="34" charset="-122"/>
                <a:cs typeface="Calibri" pitchFamily="34" charset="-120"/>
              </a:rPr>
              <a:t>Fewer male-on-female cases ended at the lightest or middle tiers.</a:t>
            </a:r>
            <a:endParaRPr lang="en-US" sz="1050" dirty="0"/>
          </a:p>
          <a:p>
            <a:pPr marL="0" indent="0">
              <a:buNone/>
            </a:pPr>
            <a:endParaRPr lang="en-US" sz="1050" dirty="0"/>
          </a:p>
          <a:p>
            <a:pPr marL="0" indent="0">
              <a:buNone/>
            </a:pPr>
            <a:r>
              <a:rPr lang="en-US" sz="1050" dirty="0">
                <a:solidFill>
                  <a:srgbClr val="1F1A24"/>
                </a:solidFill>
                <a:latin typeface="Calibri" pitchFamily="34" charset="0"/>
                <a:ea typeface="Calibri" pitchFamily="34" charset="-122"/>
                <a:cs typeface="Calibri" pitchFamily="34" charset="-120"/>
              </a:rPr>
              <a:t>More ended in ordinary prison — and </a:t>
            </a:r>
            <a:r>
              <a:rPr lang="en-US" sz="1050" b="1" dirty="0">
                <a:solidFill>
                  <a:srgbClr val="6D2E46"/>
                </a:solidFill>
                <a:latin typeface="Calibri" pitchFamily="34" charset="0"/>
                <a:ea typeface="Calibri" pitchFamily="34" charset="-122"/>
                <a:cs typeface="Calibri" pitchFamily="34" charset="-120"/>
              </a:rPr>
              <a:t>dramatically more</a:t>
            </a:r>
            <a:r>
              <a:rPr lang="en-US" sz="1050" dirty="0">
                <a:solidFill>
                  <a:srgbClr val="1F1A24"/>
                </a:solidFill>
                <a:latin typeface="Calibri" pitchFamily="34" charset="0"/>
                <a:ea typeface="Calibri" pitchFamily="34" charset="-122"/>
                <a:cs typeface="Calibri" pitchFamily="34" charset="-120"/>
              </a:rPr>
              <a:t> in capital or transportation.</a:t>
            </a:r>
            <a:endParaRPr lang="en-US" sz="1050" dirty="0"/>
          </a:p>
          <a:p>
            <a:pPr marL="0" indent="0">
              <a:buNone/>
            </a:pPr>
            <a:endParaRPr lang="en-US" sz="1050" dirty="0"/>
          </a:p>
          <a:p>
            <a:pPr marL="0" indent="0">
              <a:buNone/>
            </a:pPr>
            <a:r>
              <a:rPr lang="en-US" sz="1000" i="1" dirty="0">
                <a:solidFill>
                  <a:srgbClr val="8B7F83"/>
                </a:solidFill>
                <a:latin typeface="Calibri" pitchFamily="34" charset="0"/>
                <a:ea typeface="Calibri" pitchFamily="34" charset="-122"/>
                <a:cs typeface="Calibri" pitchFamily="34" charset="-120"/>
              </a:rPr>
              <a:t>Capital rate:</a:t>
            </a:r>
            <a:endParaRPr lang="en-US" sz="1050" dirty="0"/>
          </a:p>
          <a:p>
            <a:pPr marL="0" indent="0">
              <a:buNone/>
            </a:pPr>
            <a:r>
              <a:rPr lang="en-US" sz="1100" b="1" dirty="0">
                <a:solidFill>
                  <a:srgbClr val="1F1A24"/>
                </a:solidFill>
                <a:latin typeface="Calibri" pitchFamily="34" charset="0"/>
                <a:ea typeface="Calibri" pitchFamily="34" charset="-122"/>
                <a:cs typeface="Calibri" pitchFamily="34" charset="-120"/>
              </a:rPr>
              <a:t>3.19% (MoF) vs 0.46% (other)</a:t>
            </a:r>
            <a:endParaRPr lang="en-US" sz="1050" dirty="0"/>
          </a:p>
          <a:p>
            <a:pPr marL="0" indent="0">
              <a:buNone/>
            </a:pPr>
            <a:r>
              <a:rPr lang="en-US" sz="1100" dirty="0">
                <a:solidFill>
                  <a:srgbClr val="1F1A24"/>
                </a:solidFill>
                <a:latin typeface="Calibri" pitchFamily="34" charset="0"/>
                <a:ea typeface="Calibri" pitchFamily="34" charset="-122"/>
                <a:cs typeface="Calibri" pitchFamily="34" charset="-120"/>
              </a:rPr>
              <a:t>= </a:t>
            </a:r>
            <a:r>
              <a:rPr lang="en-US" sz="1100" b="1" dirty="0">
                <a:solidFill>
                  <a:srgbClr val="6D2E46"/>
                </a:solidFill>
                <a:latin typeface="Calibri" pitchFamily="34" charset="0"/>
                <a:ea typeface="Calibri" pitchFamily="34" charset="-122"/>
                <a:cs typeface="Calibri" pitchFamily="34" charset="-120"/>
              </a:rPr>
              <a:t>7× relative rate</a:t>
            </a:r>
            <a:endParaRPr lang="en-US" sz="1050" dirty="0"/>
          </a:p>
        </p:txBody>
      </p:sp>
      <p:sp>
        <p:nvSpPr>
          <p:cNvPr id="12" name="Text 9"/>
          <p:cNvSpPr/>
          <p:nvPr/>
        </p:nvSpPr>
        <p:spPr>
          <a:xfrm>
            <a:off x="685800" y="4087368"/>
            <a:ext cx="7863840" cy="502920"/>
          </a:xfrm>
          <a:prstGeom prst="rect">
            <a:avLst/>
          </a:prstGeom>
          <a:noFill/>
          <a:ln/>
        </p:spPr>
        <p:txBody>
          <a:bodyPr wrap="square" lIns="0" tIns="0" rIns="0" bIns="0" rtlCol="0" anchor="ctr"/>
          <a:lstStyle/>
          <a:p>
            <a:pPr marL="0" indent="0">
              <a:buNone/>
            </a:pPr>
            <a:endParaRPr lang="en-US" sz="1100" dirty="0"/>
          </a:p>
        </p:txBody>
      </p:sp>
      <p:pic>
        <p:nvPicPr>
          <p:cNvPr id="15" name="Picture 14">
            <a:extLst>
              <a:ext uri="{FF2B5EF4-FFF2-40B4-BE49-F238E27FC236}">
                <a16:creationId xmlns:a16="http://schemas.microsoft.com/office/drawing/2014/main" id="{BB1F662C-B0D6-7987-3EB2-87CD257FB198}"/>
              </a:ext>
            </a:extLst>
          </p:cNvPr>
          <p:cNvPicPr>
            <a:picLocks noChangeAspect="1"/>
          </p:cNvPicPr>
          <p:nvPr/>
        </p:nvPicPr>
        <p:blipFill>
          <a:blip r:embed="rId3"/>
          <a:stretch>
            <a:fillRect/>
          </a:stretch>
        </p:blipFill>
        <p:spPr>
          <a:xfrm>
            <a:off x="339188" y="1797171"/>
            <a:ext cx="6083589" cy="1939183"/>
          </a:xfrm>
          <a:prstGeom prst="rect">
            <a:avLst/>
          </a:prstGeom>
        </p:spPr>
      </p:pic>
      <p:sp>
        <p:nvSpPr>
          <p:cNvPr id="4" name="TextBox 3">
            <a:extLst>
              <a:ext uri="{FF2B5EF4-FFF2-40B4-BE49-F238E27FC236}">
                <a16:creationId xmlns:a16="http://schemas.microsoft.com/office/drawing/2014/main" id="{FCA3C0E3-9F7C-FF1E-EE0B-70461A532EA9}"/>
              </a:ext>
            </a:extLst>
          </p:cNvPr>
          <p:cNvSpPr txBox="1"/>
          <p:nvPr/>
        </p:nvSpPr>
        <p:spPr>
          <a:xfrm>
            <a:off x="339188" y="760785"/>
            <a:ext cx="7955281" cy="1077218"/>
          </a:xfrm>
          <a:prstGeom prst="rect">
            <a:avLst/>
          </a:prstGeom>
          <a:noFill/>
        </p:spPr>
        <p:txBody>
          <a:bodyPr wrap="square">
            <a:spAutoFit/>
          </a:bodyPr>
          <a:lstStyle/>
          <a:p>
            <a:pPr marL="171450" indent="-171450">
              <a:buFont typeface="Arial" panose="020B0604020202020204" pitchFamily="34" charset="0"/>
              <a:buChar char="•"/>
            </a:pPr>
            <a:r>
              <a:rPr lang="en-US" sz="1100" dirty="0"/>
              <a:t>On the corrected severity rank, male‑on‑female cases are on average </a:t>
            </a:r>
            <a:r>
              <a:rPr lang="en-US" sz="1100" b="1" dirty="0"/>
              <a:t>+0.05 severity units </a:t>
            </a:r>
            <a:r>
              <a:rPr lang="en-US" sz="1100" b="1" i="1" dirty="0"/>
              <a:t>harsher</a:t>
            </a:r>
            <a:r>
              <a:rPr lang="en-US" sz="1100" dirty="0"/>
              <a:t> than other cases — a small positive gap.</a:t>
            </a:r>
          </a:p>
          <a:p>
            <a:pPr marL="171450" indent="-171450">
              <a:buFont typeface="Arial" panose="020B0604020202020204" pitchFamily="34" charset="0"/>
              <a:buChar char="•"/>
            </a:pPr>
            <a:br>
              <a:rPr lang="en-US" sz="1100" dirty="0"/>
            </a:br>
            <a:r>
              <a:rPr lang="en-US" sz="1100" dirty="0"/>
              <a:t>On the binary "hard </a:t>
            </a:r>
            <a:r>
              <a:rPr lang="en-US" sz="1100" dirty="0" err="1"/>
              <a:t>labour</a:t>
            </a:r>
            <a:r>
              <a:rPr lang="en-US" sz="1100" dirty="0"/>
              <a:t> or capital" flag, the raw gap is essentially </a:t>
            </a:r>
            <a:r>
              <a:rPr lang="en-US" sz="1100" b="1" dirty="0"/>
              <a:t>zero (−0.004)</a:t>
            </a:r>
            <a:r>
              <a:rPr lang="en-US" sz="1100" dirty="0"/>
              <a:t>. Whether a case ended up in the severe band is basically unchanged by the treatment.</a:t>
            </a:r>
            <a:br>
              <a:rPr lang="en-US" sz="900" dirty="0"/>
            </a:br>
            <a:endParaRPr lang="en-US" sz="900" dirty="0"/>
          </a:p>
        </p:txBody>
      </p:sp>
      <p:sp>
        <p:nvSpPr>
          <p:cNvPr id="5" name="TextBox 4">
            <a:extLst>
              <a:ext uri="{FF2B5EF4-FFF2-40B4-BE49-F238E27FC236}">
                <a16:creationId xmlns:a16="http://schemas.microsoft.com/office/drawing/2014/main" id="{EC771E9D-A26D-3516-5C8B-657B14949954}"/>
              </a:ext>
            </a:extLst>
          </p:cNvPr>
          <p:cNvSpPr txBox="1"/>
          <p:nvPr/>
        </p:nvSpPr>
        <p:spPr>
          <a:xfrm>
            <a:off x="339188" y="3940302"/>
            <a:ext cx="8339992" cy="1169551"/>
          </a:xfrm>
          <a:prstGeom prst="rect">
            <a:avLst/>
          </a:prstGeom>
          <a:noFill/>
        </p:spPr>
        <p:txBody>
          <a:bodyPr wrap="square" rtlCol="0">
            <a:spAutoFit/>
          </a:bodyPr>
          <a:lstStyle/>
          <a:p>
            <a:r>
              <a:rPr lang="en-US" sz="1350" dirty="0">
                <a:latin typeface="Calibri" pitchFamily="34" charset="0"/>
                <a:ea typeface="Calibri" pitchFamily="34" charset="-122"/>
                <a:cs typeface="Calibri" pitchFamily="34" charset="-120"/>
              </a:rPr>
              <a:t>The sentencing mix differs. But is this a judicial pattern — or just different crimes?</a:t>
            </a:r>
            <a:endParaRPr lang="en-US" sz="1350" dirty="0"/>
          </a:p>
          <a:p>
            <a:r>
              <a:rPr lang="en-US" sz="1350" dirty="0"/>
              <a:t>The analysis reported that male‑on‑female cases received "lighter" sentences.  That conclusion is reversed once severity is ordered correctly.</a:t>
            </a:r>
          </a:p>
          <a:p>
            <a:r>
              <a:rPr lang="en-US" sz="1350" dirty="0"/>
              <a:t>What is actually happening in the raw data is that male‑on‑female cases are substantially over‑represented in capital / transportation sentencing — a far more legally consequential finding than a small ordinal shift.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AF6"/>
        </a:solidFill>
        <a:effectLst/>
      </p:bgPr>
    </p:bg>
    <p:spTree>
      <p:nvGrpSpPr>
        <p:cNvPr id="1" name=""/>
        <p:cNvGrpSpPr/>
        <p:nvPr/>
      </p:nvGrpSpPr>
      <p:grpSpPr>
        <a:xfrm>
          <a:off x="0" y="0"/>
          <a:ext cx="0" cy="0"/>
          <a:chOff x="0" y="0"/>
          <a:chExt cx="0" cy="0"/>
        </a:xfrm>
      </p:grpSpPr>
      <p:sp>
        <p:nvSpPr>
          <p:cNvPr id="6" name="Text 4"/>
          <p:cNvSpPr/>
          <p:nvPr/>
        </p:nvSpPr>
        <p:spPr>
          <a:xfrm>
            <a:off x="457200" y="198120"/>
            <a:ext cx="8275320" cy="771144"/>
          </a:xfrm>
          <a:prstGeom prst="rect">
            <a:avLst/>
          </a:prstGeom>
          <a:noFill/>
          <a:ln/>
        </p:spPr>
        <p:txBody>
          <a:bodyPr wrap="square" lIns="0" tIns="0" rIns="0" bIns="0" rtlCol="0" anchor="ctr"/>
          <a:lstStyle/>
          <a:p>
            <a:pPr marL="0" indent="0">
              <a:buNone/>
            </a:pPr>
            <a:r>
              <a:rPr lang="en-US" sz="2200" b="1" dirty="0">
                <a:solidFill>
                  <a:srgbClr val="1F1A24"/>
                </a:solidFill>
                <a:latin typeface="Georgia" pitchFamily="34" charset="0"/>
                <a:ea typeface="Georgia" pitchFamily="34" charset="-122"/>
                <a:cs typeface="Georgia" pitchFamily="34" charset="-120"/>
              </a:rPr>
              <a:t>Can we trust these raw numbers as evidence of how courts behaved?</a:t>
            </a:r>
            <a:endParaRPr lang="en-US" sz="2200" dirty="0"/>
          </a:p>
        </p:txBody>
      </p:sp>
      <p:sp>
        <p:nvSpPr>
          <p:cNvPr id="8" name="Text 5"/>
          <p:cNvSpPr/>
          <p:nvPr/>
        </p:nvSpPr>
        <p:spPr>
          <a:xfrm>
            <a:off x="5850264" y="982980"/>
            <a:ext cx="3108960" cy="365760"/>
          </a:xfrm>
          <a:prstGeom prst="rect">
            <a:avLst/>
          </a:prstGeom>
          <a:noFill/>
          <a:ln/>
        </p:spPr>
        <p:txBody>
          <a:bodyPr wrap="square" lIns="0" tIns="0" rIns="0" bIns="0" rtlCol="0" anchor="ctr"/>
          <a:lstStyle/>
          <a:p>
            <a:pPr marL="0" indent="0">
              <a:buNone/>
            </a:pPr>
            <a:r>
              <a:rPr lang="en-US" sz="1400" b="1" dirty="0">
                <a:solidFill>
                  <a:srgbClr val="6D2E46"/>
                </a:solidFill>
                <a:latin typeface="Georgia" pitchFamily="34" charset="0"/>
                <a:ea typeface="Georgia" pitchFamily="34" charset="-122"/>
                <a:cs typeface="Georgia" pitchFamily="34" charset="-120"/>
              </a:rPr>
              <a:t>The groups aren't comparable</a:t>
            </a:r>
            <a:endParaRPr lang="en-US" sz="1400" dirty="0"/>
          </a:p>
        </p:txBody>
      </p:sp>
      <p:sp>
        <p:nvSpPr>
          <p:cNvPr id="9" name="Text 6"/>
          <p:cNvSpPr/>
          <p:nvPr/>
        </p:nvSpPr>
        <p:spPr>
          <a:xfrm>
            <a:off x="5737860" y="1638300"/>
            <a:ext cx="2994660" cy="1176528"/>
          </a:xfrm>
          <a:prstGeom prst="rect">
            <a:avLst/>
          </a:prstGeom>
          <a:noFill/>
          <a:ln/>
        </p:spPr>
        <p:txBody>
          <a:bodyPr wrap="square" lIns="0" tIns="0" rIns="0" bIns="0" rtlCol="0" anchor="t"/>
          <a:lstStyle/>
          <a:p>
            <a:pPr marL="0" indent="0">
              <a:buNone/>
            </a:pPr>
            <a:r>
              <a:rPr lang="en-US" sz="1200" dirty="0">
                <a:solidFill>
                  <a:srgbClr val="1F1A24"/>
                </a:solidFill>
                <a:latin typeface="Calibri" pitchFamily="34" charset="0"/>
                <a:ea typeface="Calibri" pitchFamily="34" charset="-122"/>
                <a:cs typeface="Calibri" pitchFamily="34" charset="-120"/>
              </a:rPr>
              <a:t>Male-on-female cases cluster in assault and sexual offences.</a:t>
            </a:r>
            <a:endParaRPr lang="en-US" sz="1200" dirty="0"/>
          </a:p>
          <a:p>
            <a:pPr marL="0" indent="0">
              <a:buNone/>
            </a:pPr>
            <a:endParaRPr lang="en-US" sz="1200" dirty="0"/>
          </a:p>
          <a:p>
            <a:pPr marL="0" indent="0">
              <a:buNone/>
            </a:pPr>
            <a:r>
              <a:rPr lang="en-US" sz="1200" dirty="0">
                <a:solidFill>
                  <a:srgbClr val="1F1A24"/>
                </a:solidFill>
                <a:latin typeface="Calibri" pitchFamily="34" charset="0"/>
                <a:ea typeface="Calibri" pitchFamily="34" charset="-122"/>
                <a:cs typeface="Calibri" pitchFamily="34" charset="-120"/>
              </a:rPr>
              <a:t>The rest of the corpus is full of forgery, coining, and large-scale theft — crimes carrying </a:t>
            </a:r>
            <a:r>
              <a:rPr lang="en-US" sz="1200" b="1" dirty="0">
                <a:solidFill>
                  <a:srgbClr val="6D2E46"/>
                </a:solidFill>
                <a:latin typeface="Calibri" pitchFamily="34" charset="0"/>
                <a:ea typeface="Calibri" pitchFamily="34" charset="-122"/>
                <a:cs typeface="Calibri" pitchFamily="34" charset="-120"/>
              </a:rPr>
              <a:t>transportation tariffs by statute</a:t>
            </a:r>
            <a:r>
              <a:rPr lang="en-US" sz="1200" dirty="0">
                <a:solidFill>
                  <a:srgbClr val="1F1A24"/>
                </a:solidFill>
                <a:latin typeface="Calibri" pitchFamily="34" charset="0"/>
                <a:ea typeface="Calibri" pitchFamily="34" charset="-122"/>
                <a:cs typeface="Calibri" pitchFamily="34" charset="-120"/>
              </a:rPr>
              <a:t>.</a:t>
            </a:r>
            <a:endParaRPr lang="en-US" sz="1200" dirty="0"/>
          </a:p>
          <a:p>
            <a:pPr marL="0" indent="0">
              <a:buNone/>
            </a:pPr>
            <a:r>
              <a:rPr lang="en-US" sz="1400" b="1" i="1" dirty="0">
                <a:solidFill>
                  <a:srgbClr val="C9A34E"/>
                </a:solidFill>
                <a:latin typeface="Calibri" pitchFamily="34" charset="0"/>
                <a:ea typeface="Calibri" pitchFamily="34" charset="-122"/>
                <a:cs typeface="Calibri" pitchFamily="34" charset="-120"/>
              </a:rPr>
              <a:t>We are not comparing like for like.</a:t>
            </a:r>
          </a:p>
          <a:p>
            <a:endParaRPr lang="en-US" sz="1200" dirty="0"/>
          </a:p>
          <a:p>
            <a:pPr marL="0" indent="0">
              <a:buNone/>
            </a:pPr>
            <a:endParaRPr lang="en-US" sz="1100" dirty="0"/>
          </a:p>
        </p:txBody>
      </p:sp>
      <p:sp>
        <p:nvSpPr>
          <p:cNvPr id="10" name="Shape 7"/>
          <p:cNvSpPr/>
          <p:nvPr/>
        </p:nvSpPr>
        <p:spPr>
          <a:xfrm>
            <a:off x="320040" y="4869180"/>
            <a:ext cx="8229600" cy="548640"/>
          </a:xfrm>
          <a:prstGeom prst="rect">
            <a:avLst/>
          </a:prstGeom>
          <a:solidFill>
            <a:srgbClr val="C0392B"/>
          </a:solidFill>
          <a:ln w="12700">
            <a:solidFill>
              <a:srgbClr val="C0392B"/>
            </a:solidFill>
            <a:prstDash val="solid"/>
          </a:ln>
        </p:spPr>
        <p:txBody>
          <a:bodyPr/>
          <a:lstStyle/>
          <a:p>
            <a:endParaRPr lang="en-SG" dirty="0"/>
          </a:p>
        </p:txBody>
      </p:sp>
      <p:sp>
        <p:nvSpPr>
          <p:cNvPr id="11" name="Text 8"/>
          <p:cNvSpPr/>
          <p:nvPr/>
        </p:nvSpPr>
        <p:spPr>
          <a:xfrm>
            <a:off x="548640" y="4779264"/>
            <a:ext cx="7863840" cy="5029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Any legal claim from raw differences is unsafe. We must compare cases that are alike on everything except the treatment.</a:t>
            </a:r>
            <a:endParaRPr lang="en-US" sz="1100" dirty="0"/>
          </a:p>
        </p:txBody>
      </p:sp>
      <p:pic>
        <p:nvPicPr>
          <p:cNvPr id="13" name="Picture 12">
            <a:extLst>
              <a:ext uri="{FF2B5EF4-FFF2-40B4-BE49-F238E27FC236}">
                <a16:creationId xmlns:a16="http://schemas.microsoft.com/office/drawing/2014/main" id="{1A6BE0D0-1E94-F5CD-1939-50026CC55D8B}"/>
              </a:ext>
            </a:extLst>
          </p:cNvPr>
          <p:cNvPicPr>
            <a:picLocks noChangeAspect="1"/>
          </p:cNvPicPr>
          <p:nvPr/>
        </p:nvPicPr>
        <p:blipFill>
          <a:blip r:embed="rId3"/>
          <a:stretch>
            <a:fillRect/>
          </a:stretch>
        </p:blipFill>
        <p:spPr>
          <a:xfrm>
            <a:off x="184776" y="1004152"/>
            <a:ext cx="5248284" cy="2314792"/>
          </a:xfrm>
          <a:prstGeom prst="rect">
            <a:avLst/>
          </a:prstGeom>
        </p:spPr>
      </p:pic>
      <p:sp>
        <p:nvSpPr>
          <p:cNvPr id="15" name="TextBox 14">
            <a:extLst>
              <a:ext uri="{FF2B5EF4-FFF2-40B4-BE49-F238E27FC236}">
                <a16:creationId xmlns:a16="http://schemas.microsoft.com/office/drawing/2014/main" id="{3FAFC85B-D888-0FAC-6F61-2DFBC5D99783}"/>
              </a:ext>
            </a:extLst>
          </p:cNvPr>
          <p:cNvSpPr txBox="1"/>
          <p:nvPr/>
        </p:nvSpPr>
        <p:spPr>
          <a:xfrm>
            <a:off x="320040" y="3361235"/>
            <a:ext cx="7978140" cy="1769715"/>
          </a:xfrm>
          <a:prstGeom prst="rect">
            <a:avLst/>
          </a:prstGeom>
          <a:noFill/>
        </p:spPr>
        <p:txBody>
          <a:bodyPr wrap="square" rtlCol="0">
            <a:spAutoFit/>
          </a:bodyPr>
          <a:lstStyle/>
          <a:p>
            <a:r>
              <a:rPr lang="en-US" sz="1300" i="1" dirty="0"/>
              <a:t>The offence-topic mix is clearly different between the two groups. Some topics are heavily populated by male-on-female cases; others are almost entirely male-on-male or non-gender-coded offences.</a:t>
            </a:r>
          </a:p>
          <a:p>
            <a:br>
              <a:rPr lang="en-US" sz="1300" i="1" dirty="0"/>
            </a:br>
            <a:r>
              <a:rPr lang="en-US" sz="1300" i="1" dirty="0"/>
              <a:t>The raw sevenfold capital-rate gap and the per-category U-shape could both be manufactured by offence-mix alone. For example, if sexual offences (a topic heavily male-on-female) carried statutory capital eligibility while coining (a topic heavily non-MoF) did not, we would see a capital-rate spike for MoF cases that has nothing to do with how judges treated male-on-female cases given a comparable offence.</a:t>
            </a:r>
          </a:p>
          <a:p>
            <a:endParaRPr lang="en-SG"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AF6"/>
        </a:solidFill>
        <a:effectLst/>
      </p:bgPr>
    </p:bg>
    <p:spTree>
      <p:nvGrpSpPr>
        <p:cNvPr id="1" name=""/>
        <p:cNvGrpSpPr/>
        <p:nvPr/>
      </p:nvGrpSpPr>
      <p:grpSpPr>
        <a:xfrm>
          <a:off x="0" y="0"/>
          <a:ext cx="0" cy="0"/>
          <a:chOff x="0" y="0"/>
          <a:chExt cx="0" cy="0"/>
        </a:xfrm>
      </p:grpSpPr>
      <p:sp>
        <p:nvSpPr>
          <p:cNvPr id="6" name="Text 4"/>
          <p:cNvSpPr/>
          <p:nvPr/>
        </p:nvSpPr>
        <p:spPr>
          <a:xfrm>
            <a:off x="685800" y="114300"/>
            <a:ext cx="7680960" cy="457200"/>
          </a:xfrm>
          <a:prstGeom prst="rect">
            <a:avLst/>
          </a:prstGeom>
          <a:noFill/>
          <a:ln/>
        </p:spPr>
        <p:txBody>
          <a:bodyPr wrap="square" lIns="0" tIns="0" rIns="0" bIns="0" rtlCol="0" anchor="ctr"/>
          <a:lstStyle/>
          <a:p>
            <a:pPr marL="0" indent="0">
              <a:buNone/>
            </a:pPr>
            <a:r>
              <a:rPr lang="en-US" sz="2200" b="1" dirty="0">
                <a:solidFill>
                  <a:srgbClr val="1F1A24"/>
                </a:solidFill>
                <a:latin typeface="Georgia" pitchFamily="34" charset="0"/>
                <a:ea typeface="Georgia" pitchFamily="34" charset="-122"/>
                <a:cs typeface="Georgia" pitchFamily="34" charset="-120"/>
              </a:rPr>
              <a:t>How do we compare like with like?</a:t>
            </a:r>
            <a:endParaRPr lang="en-US" sz="2200" dirty="0"/>
          </a:p>
        </p:txBody>
      </p:sp>
      <p:pic>
        <p:nvPicPr>
          <p:cNvPr id="7" name="Image 0" descr="/home/claude/fig1_dag.png"/>
          <p:cNvPicPr>
            <a:picLocks noChangeAspect="1"/>
          </p:cNvPicPr>
          <p:nvPr/>
        </p:nvPicPr>
        <p:blipFill>
          <a:blip r:embed="rId3"/>
          <a:stretch>
            <a:fillRect/>
          </a:stretch>
        </p:blipFill>
        <p:spPr>
          <a:xfrm>
            <a:off x="533400" y="643255"/>
            <a:ext cx="5562600" cy="2874010"/>
          </a:xfrm>
          <a:prstGeom prst="rect">
            <a:avLst/>
          </a:prstGeom>
        </p:spPr>
      </p:pic>
      <p:sp>
        <p:nvSpPr>
          <p:cNvPr id="8" name="Text 5"/>
          <p:cNvSpPr/>
          <p:nvPr/>
        </p:nvSpPr>
        <p:spPr>
          <a:xfrm>
            <a:off x="6172200" y="1188720"/>
            <a:ext cx="2606040" cy="274320"/>
          </a:xfrm>
          <a:prstGeom prst="rect">
            <a:avLst/>
          </a:prstGeom>
          <a:noFill/>
          <a:ln/>
        </p:spPr>
        <p:txBody>
          <a:bodyPr wrap="square" lIns="0" tIns="0" rIns="0" bIns="0" rtlCol="0" anchor="ctr"/>
          <a:lstStyle/>
          <a:p>
            <a:pPr marL="0" indent="0">
              <a:buNone/>
            </a:pPr>
            <a:r>
              <a:rPr lang="en-US" sz="1200" b="1" dirty="0">
                <a:solidFill>
                  <a:srgbClr val="6D2E46"/>
                </a:solidFill>
                <a:latin typeface="Georgia" pitchFamily="34" charset="0"/>
                <a:ea typeface="Georgia" pitchFamily="34" charset="-122"/>
                <a:cs typeface="Georgia" pitchFamily="34" charset="-120"/>
              </a:rPr>
              <a:t>What we control for</a:t>
            </a:r>
            <a:endParaRPr lang="en-US" sz="1200" dirty="0"/>
          </a:p>
        </p:txBody>
      </p:sp>
      <p:sp>
        <p:nvSpPr>
          <p:cNvPr id="9" name="Text 6"/>
          <p:cNvSpPr/>
          <p:nvPr/>
        </p:nvSpPr>
        <p:spPr>
          <a:xfrm>
            <a:off x="6172200" y="1463040"/>
            <a:ext cx="2606040" cy="563880"/>
          </a:xfrm>
          <a:prstGeom prst="rect">
            <a:avLst/>
          </a:prstGeom>
          <a:noFill/>
          <a:ln/>
        </p:spPr>
        <p:txBody>
          <a:bodyPr wrap="square" lIns="0" tIns="0" rIns="0" bIns="0" rtlCol="0" anchor="t"/>
          <a:lstStyle/>
          <a:p>
            <a:pPr marL="342900" indent="-342900">
              <a:buSzPct val="100000"/>
              <a:buChar char="•"/>
            </a:pPr>
            <a:r>
              <a:rPr lang="en-US" sz="1000" dirty="0">
                <a:solidFill>
                  <a:srgbClr val="1F1A24"/>
                </a:solidFill>
                <a:latin typeface="Calibri" pitchFamily="34" charset="0"/>
                <a:ea typeface="Calibri" pitchFamily="34" charset="-122"/>
                <a:cs typeface="Calibri" pitchFamily="34" charset="-120"/>
              </a:rPr>
              <a:t>Offence topic (10 LDA categories)</a:t>
            </a:r>
            <a:endParaRPr lang="en-US" sz="1000" dirty="0"/>
          </a:p>
          <a:p>
            <a:pPr marL="342900" indent="-342900">
              <a:buSzPct val="100000"/>
              <a:buChar char="•"/>
            </a:pPr>
            <a:r>
              <a:rPr lang="en-US" sz="1000" dirty="0">
                <a:solidFill>
                  <a:srgbClr val="1F1A24"/>
                </a:solidFill>
                <a:latin typeface="Calibri" pitchFamily="34" charset="0"/>
                <a:ea typeface="Calibri" pitchFamily="34" charset="-122"/>
                <a:cs typeface="Calibri" pitchFamily="34" charset="-120"/>
              </a:rPr>
              <a:t>Evidence intensity</a:t>
            </a:r>
            <a:endParaRPr lang="en-US" sz="1000" dirty="0"/>
          </a:p>
          <a:p>
            <a:pPr marL="342900" indent="-342900">
              <a:buSzPct val="100000"/>
              <a:buChar char="•"/>
            </a:pPr>
            <a:r>
              <a:rPr lang="en-US" sz="1000" dirty="0">
                <a:solidFill>
                  <a:srgbClr val="1F1A24"/>
                </a:solidFill>
                <a:latin typeface="Calibri" pitchFamily="34" charset="0"/>
                <a:ea typeface="Calibri" pitchFamily="34" charset="-122"/>
                <a:cs typeface="Calibri" pitchFamily="34" charset="-120"/>
              </a:rPr>
              <a:t>Narrative sentiment</a:t>
            </a:r>
            <a:endParaRPr lang="en-US" sz="1000" dirty="0"/>
          </a:p>
          <a:p>
            <a:pPr marL="342900" indent="-342900">
              <a:buSzPct val="100000"/>
              <a:buChar char="•"/>
            </a:pPr>
            <a:r>
              <a:rPr lang="en-US" sz="1000" dirty="0">
                <a:solidFill>
                  <a:srgbClr val="1F1A24"/>
                </a:solidFill>
                <a:latin typeface="Calibri" pitchFamily="34" charset="0"/>
                <a:ea typeface="Calibri" pitchFamily="34" charset="-122"/>
                <a:cs typeface="Calibri" pitchFamily="34" charset="-120"/>
              </a:rPr>
              <a:t>Text complexity / readability</a:t>
            </a:r>
            <a:endParaRPr lang="en-US" sz="1000" dirty="0"/>
          </a:p>
        </p:txBody>
      </p:sp>
      <p:sp>
        <p:nvSpPr>
          <p:cNvPr id="10" name="Text 7"/>
          <p:cNvSpPr/>
          <p:nvPr/>
        </p:nvSpPr>
        <p:spPr>
          <a:xfrm>
            <a:off x="6172200" y="2080260"/>
            <a:ext cx="2606040" cy="373380"/>
          </a:xfrm>
          <a:prstGeom prst="rect">
            <a:avLst/>
          </a:prstGeom>
          <a:noFill/>
          <a:ln/>
        </p:spPr>
        <p:txBody>
          <a:bodyPr wrap="square" lIns="0" tIns="0" rIns="0" bIns="0" rtlCol="0" anchor="ctr"/>
          <a:lstStyle/>
          <a:p>
            <a:pPr marL="0" indent="0">
              <a:buNone/>
            </a:pPr>
            <a:r>
              <a:rPr lang="en-US" sz="1200" b="1" dirty="0">
                <a:solidFill>
                  <a:srgbClr val="C9A34E"/>
                </a:solidFill>
                <a:latin typeface="Georgia" pitchFamily="34" charset="0"/>
                <a:ea typeface="Georgia" pitchFamily="34" charset="-122"/>
                <a:cs typeface="Georgia" pitchFamily="34" charset="-120"/>
              </a:rPr>
              <a:t>What we cannot see</a:t>
            </a:r>
            <a:endParaRPr lang="en-US" sz="1200" dirty="0"/>
          </a:p>
        </p:txBody>
      </p:sp>
      <p:sp>
        <p:nvSpPr>
          <p:cNvPr id="11" name="Text 8"/>
          <p:cNvSpPr/>
          <p:nvPr/>
        </p:nvSpPr>
        <p:spPr>
          <a:xfrm>
            <a:off x="6172200" y="2453640"/>
            <a:ext cx="2606040" cy="1097280"/>
          </a:xfrm>
          <a:prstGeom prst="rect">
            <a:avLst/>
          </a:prstGeom>
          <a:noFill/>
          <a:ln/>
        </p:spPr>
        <p:txBody>
          <a:bodyPr wrap="square" lIns="0" tIns="0" rIns="0" bIns="0" rtlCol="0" anchor="t"/>
          <a:lstStyle/>
          <a:p>
            <a:pPr marL="342900" indent="-342900">
              <a:buSzPct val="100000"/>
              <a:buChar char="•"/>
            </a:pPr>
            <a:r>
              <a:rPr lang="en-US" sz="1000" dirty="0">
                <a:solidFill>
                  <a:srgbClr val="1F1A24"/>
                </a:solidFill>
                <a:latin typeface="Calibri" pitchFamily="34" charset="0"/>
                <a:ea typeface="Calibri" pitchFamily="34" charset="-122"/>
                <a:cs typeface="Calibri" pitchFamily="34" charset="-120"/>
              </a:rPr>
              <a:t>Judge identity</a:t>
            </a:r>
            <a:endParaRPr lang="en-US" sz="1000" dirty="0"/>
          </a:p>
          <a:p>
            <a:pPr marL="342900" indent="-342900">
              <a:buSzPct val="100000"/>
              <a:buChar char="•"/>
            </a:pPr>
            <a:r>
              <a:rPr lang="en-US" sz="1000" dirty="0">
                <a:solidFill>
                  <a:srgbClr val="1F1A24"/>
                </a:solidFill>
                <a:latin typeface="Calibri" pitchFamily="34" charset="0"/>
                <a:ea typeface="Calibri" pitchFamily="34" charset="-122"/>
                <a:cs typeface="Calibri" pitchFamily="34" charset="-120"/>
              </a:rPr>
              <a:t>Defendant's prior record</a:t>
            </a:r>
            <a:endParaRPr lang="en-US" sz="1000" dirty="0"/>
          </a:p>
          <a:p>
            <a:pPr marL="342900" indent="-342900">
              <a:buSzPct val="100000"/>
              <a:buChar char="•"/>
            </a:pPr>
            <a:r>
              <a:rPr lang="en-US" sz="1000" dirty="0">
                <a:solidFill>
                  <a:srgbClr val="1F1A24"/>
                </a:solidFill>
                <a:latin typeface="Calibri" pitchFamily="34" charset="0"/>
                <a:ea typeface="Calibri" pitchFamily="34" charset="-122"/>
                <a:cs typeface="Calibri" pitchFamily="34" charset="-120"/>
              </a:rPr>
              <a:t>Plea bargaining</a:t>
            </a:r>
            <a:endParaRPr lang="en-US" sz="1000" dirty="0"/>
          </a:p>
          <a:p>
            <a:pPr marL="342900" indent="-342900">
              <a:buSzPct val="100000"/>
              <a:buChar char="•"/>
            </a:pPr>
            <a:r>
              <a:rPr lang="en-US" sz="1000" dirty="0">
                <a:solidFill>
                  <a:srgbClr val="1F1A24"/>
                </a:solidFill>
                <a:latin typeface="Calibri" pitchFamily="34" charset="0"/>
                <a:ea typeface="Calibri" pitchFamily="34" charset="-122"/>
                <a:cs typeface="Calibri" pitchFamily="34" charset="-120"/>
              </a:rPr>
              <a:t>Legal representation</a:t>
            </a:r>
            <a:endParaRPr lang="en-US" sz="1000" dirty="0"/>
          </a:p>
        </p:txBody>
      </p:sp>
      <p:sp>
        <p:nvSpPr>
          <p:cNvPr id="13" name="Text 10"/>
          <p:cNvSpPr/>
          <p:nvPr/>
        </p:nvSpPr>
        <p:spPr>
          <a:xfrm>
            <a:off x="640080" y="4636008"/>
            <a:ext cx="7863840" cy="502920"/>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Five independent statistical methods ask the same causal question. When they agree, we believe the finding.</a:t>
            </a:r>
            <a:endParaRPr lang="en-US" sz="1100" dirty="0"/>
          </a:p>
        </p:txBody>
      </p:sp>
      <p:sp>
        <p:nvSpPr>
          <p:cNvPr id="15" name="TextBox 14">
            <a:extLst>
              <a:ext uri="{FF2B5EF4-FFF2-40B4-BE49-F238E27FC236}">
                <a16:creationId xmlns:a16="http://schemas.microsoft.com/office/drawing/2014/main" id="{615FEFCA-BBE8-A142-EBF9-391BE9D5309E}"/>
              </a:ext>
            </a:extLst>
          </p:cNvPr>
          <p:cNvSpPr txBox="1"/>
          <p:nvPr/>
        </p:nvSpPr>
        <p:spPr>
          <a:xfrm>
            <a:off x="411480" y="3718560"/>
            <a:ext cx="8229600" cy="1015663"/>
          </a:xfrm>
          <a:prstGeom prst="rect">
            <a:avLst/>
          </a:prstGeom>
          <a:noFill/>
        </p:spPr>
        <p:txBody>
          <a:bodyPr wrap="square" rtlCol="0">
            <a:spAutoFit/>
          </a:bodyPr>
          <a:lstStyle/>
          <a:p>
            <a:r>
              <a:rPr lang="en-US" sz="1400" dirty="0"/>
              <a:t>The confounder set encodes our domain knowledge: we believe offence type, evidentiary density, narrative framing, and procedural complexity are the legitimate case features that should drive sentence severity. If a treatment effect survives conditioning on this set, it cannot be explained by differences in these features.</a:t>
            </a:r>
          </a:p>
          <a:p>
            <a:endParaRPr lang="en-S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AF6"/>
        </a:solidFill>
        <a:effectLst/>
      </p:bgPr>
    </p:bg>
    <p:spTree>
      <p:nvGrpSpPr>
        <p:cNvPr id="1" name=""/>
        <p:cNvGrpSpPr/>
        <p:nvPr/>
      </p:nvGrpSpPr>
      <p:grpSpPr>
        <a:xfrm>
          <a:off x="0" y="0"/>
          <a:ext cx="0" cy="0"/>
          <a:chOff x="0" y="0"/>
          <a:chExt cx="0" cy="0"/>
        </a:xfrm>
      </p:grpSpPr>
      <p:sp>
        <p:nvSpPr>
          <p:cNvPr id="4" name="Text 2"/>
          <p:cNvSpPr/>
          <p:nvPr/>
        </p:nvSpPr>
        <p:spPr>
          <a:xfrm>
            <a:off x="502920" y="32004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Q5</a:t>
            </a:r>
            <a:endParaRPr lang="en-US" sz="1100" dirty="0"/>
          </a:p>
        </p:txBody>
      </p:sp>
      <p:sp>
        <p:nvSpPr>
          <p:cNvPr id="6" name="Text 4"/>
          <p:cNvSpPr/>
          <p:nvPr/>
        </p:nvSpPr>
        <p:spPr>
          <a:xfrm>
            <a:off x="640080" y="46138"/>
            <a:ext cx="7680960" cy="457200"/>
          </a:xfrm>
          <a:prstGeom prst="rect">
            <a:avLst/>
          </a:prstGeom>
          <a:noFill/>
          <a:ln/>
        </p:spPr>
        <p:txBody>
          <a:bodyPr wrap="square" lIns="0" tIns="0" rIns="0" bIns="0" rtlCol="0" anchor="ctr"/>
          <a:lstStyle/>
          <a:p>
            <a:pPr marL="0" indent="0">
              <a:buNone/>
            </a:pPr>
            <a:r>
              <a:rPr lang="en-US" sz="2200" b="1" dirty="0">
                <a:solidFill>
                  <a:srgbClr val="1F1A24"/>
                </a:solidFill>
                <a:latin typeface="Georgia" pitchFamily="34" charset="0"/>
                <a:ea typeface="Georgia" pitchFamily="34" charset="-122"/>
                <a:cs typeface="Georgia" pitchFamily="34" charset="-120"/>
              </a:rPr>
              <a:t>What happens when we adjust for those differences?</a:t>
            </a:r>
            <a:endParaRPr lang="en-US" sz="2200" dirty="0"/>
          </a:p>
        </p:txBody>
      </p:sp>
      <p:pic>
        <p:nvPicPr>
          <p:cNvPr id="7" name="Image 0" descr="/home/claude/viz_flip.png"/>
          <p:cNvPicPr>
            <a:picLocks noChangeAspect="1"/>
          </p:cNvPicPr>
          <p:nvPr/>
        </p:nvPicPr>
        <p:blipFill>
          <a:blip r:embed="rId3"/>
          <a:stretch>
            <a:fillRect/>
          </a:stretch>
        </p:blipFill>
        <p:spPr>
          <a:xfrm>
            <a:off x="325821" y="512064"/>
            <a:ext cx="5303520" cy="2651760"/>
          </a:xfrm>
          <a:prstGeom prst="rect">
            <a:avLst/>
          </a:prstGeom>
        </p:spPr>
      </p:pic>
      <p:sp>
        <p:nvSpPr>
          <p:cNvPr id="8" name="Text 5"/>
          <p:cNvSpPr/>
          <p:nvPr/>
        </p:nvSpPr>
        <p:spPr>
          <a:xfrm>
            <a:off x="5856365" y="480490"/>
            <a:ext cx="3006485" cy="646386"/>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Adjustment reveals a hidden effect</a:t>
            </a:r>
            <a:endParaRPr lang="en-US" sz="1300" dirty="0"/>
          </a:p>
        </p:txBody>
      </p:sp>
      <p:sp>
        <p:nvSpPr>
          <p:cNvPr id="9" name="Text 6"/>
          <p:cNvSpPr/>
          <p:nvPr/>
        </p:nvSpPr>
        <p:spPr>
          <a:xfrm>
            <a:off x="5889472" y="974339"/>
            <a:ext cx="2940269" cy="1057603"/>
          </a:xfrm>
          <a:prstGeom prst="rect">
            <a:avLst/>
          </a:prstGeom>
          <a:noFill/>
          <a:ln/>
        </p:spPr>
        <p:txBody>
          <a:bodyPr wrap="square" lIns="0" tIns="0" rIns="0" bIns="0" rtlCol="0" anchor="t"/>
          <a:lstStyle/>
          <a:p>
            <a:pPr marL="0" indent="0">
              <a:buNone/>
            </a:pPr>
            <a:r>
              <a:rPr lang="en-US" sz="1050" dirty="0">
                <a:solidFill>
                  <a:srgbClr val="1F1A24"/>
                </a:solidFill>
                <a:latin typeface="Calibri" pitchFamily="34" charset="0"/>
                <a:ea typeface="Calibri" pitchFamily="34" charset="-122"/>
                <a:cs typeface="Calibri" pitchFamily="34" charset="-120"/>
              </a:rPr>
              <a:t>On the severity-band outcome, the raw gap was essentially zero </a:t>
            </a:r>
            <a:r>
              <a:rPr lang="en-US" sz="1050" dirty="0">
                <a:solidFill>
                  <a:srgbClr val="8B7F83"/>
                </a:solidFill>
                <a:latin typeface="Calibri" pitchFamily="34" charset="0"/>
                <a:ea typeface="Calibri" pitchFamily="34" charset="-122"/>
                <a:cs typeface="Calibri" pitchFamily="34" charset="-120"/>
              </a:rPr>
              <a:t>(−0.4%)</a:t>
            </a:r>
            <a:endParaRPr lang="en-US" sz="1050" dirty="0"/>
          </a:p>
          <a:p>
            <a:pPr marL="0" indent="0">
              <a:buNone/>
            </a:pPr>
            <a:endParaRPr lang="en-US" sz="1050" dirty="0"/>
          </a:p>
          <a:p>
            <a:pPr marL="0" indent="0">
              <a:buNone/>
            </a:pPr>
            <a:r>
              <a:rPr lang="en-US" sz="1050" dirty="0">
                <a:solidFill>
                  <a:srgbClr val="1F1A24"/>
                </a:solidFill>
                <a:latin typeface="Calibri" pitchFamily="34" charset="0"/>
                <a:ea typeface="Calibri" pitchFamily="34" charset="-122"/>
                <a:cs typeface="Calibri" pitchFamily="34" charset="-120"/>
              </a:rPr>
              <a:t>After adjustment, the gap grows to </a:t>
            </a:r>
            <a:r>
              <a:rPr lang="en-US" sz="1050" b="1" dirty="0">
                <a:solidFill>
                  <a:srgbClr val="6D2E46"/>
                </a:solidFill>
                <a:latin typeface="Calibri" pitchFamily="34" charset="0"/>
                <a:ea typeface="Calibri" pitchFamily="34" charset="-122"/>
                <a:cs typeface="Calibri" pitchFamily="34" charset="-120"/>
              </a:rPr>
              <a:t>+4.4 percentage points.</a:t>
            </a:r>
            <a:endParaRPr lang="en-US" sz="1050" dirty="0"/>
          </a:p>
          <a:p>
            <a:pPr marL="0" indent="0">
              <a:buNone/>
            </a:pPr>
            <a:endParaRPr lang="en-US" sz="1050" dirty="0"/>
          </a:p>
          <a:p>
            <a:pPr marL="0" indent="0">
              <a:buNone/>
            </a:pPr>
            <a:r>
              <a:rPr lang="en-US" sz="1050" i="1" dirty="0">
                <a:solidFill>
                  <a:srgbClr val="1F1A24"/>
                </a:solidFill>
                <a:latin typeface="Calibri" pitchFamily="34" charset="0"/>
                <a:ea typeface="Calibri" pitchFamily="34" charset="-122"/>
                <a:cs typeface="Calibri" pitchFamily="34" charset="-120"/>
              </a:rPr>
              <a:t>Offence mix was </a:t>
            </a:r>
            <a:r>
              <a:rPr lang="en-US" sz="1050" b="1" i="1" dirty="0">
                <a:solidFill>
                  <a:srgbClr val="6D2E46"/>
                </a:solidFill>
                <a:latin typeface="Calibri" pitchFamily="34" charset="0"/>
                <a:ea typeface="Calibri" pitchFamily="34" charset="-122"/>
                <a:cs typeface="Calibri" pitchFamily="34" charset="-120"/>
              </a:rPr>
              <a:t>masking </a:t>
            </a:r>
            <a:r>
              <a:rPr lang="en-US" sz="1050" i="1" dirty="0">
                <a:solidFill>
                  <a:srgbClr val="1F1A24"/>
                </a:solidFill>
                <a:latin typeface="Calibri" pitchFamily="34" charset="0"/>
                <a:ea typeface="Calibri" pitchFamily="34" charset="-122"/>
                <a:cs typeface="Calibri" pitchFamily="34" charset="-120"/>
              </a:rPr>
              <a:t>a real effect, not inflating one.</a:t>
            </a:r>
            <a:endParaRPr lang="en-US" sz="1050" dirty="0"/>
          </a:p>
        </p:txBody>
      </p:sp>
      <p:sp>
        <p:nvSpPr>
          <p:cNvPr id="11" name="Text 8"/>
          <p:cNvSpPr/>
          <p:nvPr/>
        </p:nvSpPr>
        <p:spPr>
          <a:xfrm>
            <a:off x="5889472" y="2380594"/>
            <a:ext cx="2649132" cy="638504"/>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Controlling for offence mix does not erase the pattern — it clarifies it. Male-on-female cases are harsher on every adjusted outcome.</a:t>
            </a:r>
            <a:endParaRPr lang="en-US" sz="1100" dirty="0"/>
          </a:p>
        </p:txBody>
      </p:sp>
      <p:sp>
        <p:nvSpPr>
          <p:cNvPr id="13" name="TextBox 12">
            <a:extLst>
              <a:ext uri="{FF2B5EF4-FFF2-40B4-BE49-F238E27FC236}">
                <a16:creationId xmlns:a16="http://schemas.microsoft.com/office/drawing/2014/main" id="{32B50E4B-EF60-5817-6005-4B37CA53785B}"/>
              </a:ext>
            </a:extLst>
          </p:cNvPr>
          <p:cNvSpPr txBox="1"/>
          <p:nvPr/>
        </p:nvSpPr>
        <p:spPr>
          <a:xfrm>
            <a:off x="214150" y="3294084"/>
            <a:ext cx="8648700" cy="2215991"/>
          </a:xfrm>
          <a:prstGeom prst="rect">
            <a:avLst/>
          </a:prstGeom>
          <a:noFill/>
        </p:spPr>
        <p:txBody>
          <a:bodyPr wrap="square" rtlCol="0">
            <a:spAutoFit/>
          </a:bodyPr>
          <a:lstStyle/>
          <a:p>
            <a:r>
              <a:rPr lang="en-US" sz="1200" dirty="0"/>
              <a:t>We assembled 19 confounders — the 10 LDA topic probabilities, 6 entity-count features, and 3 readability and sentiment variables and </a:t>
            </a:r>
            <a:r>
              <a:rPr lang="en-US" sz="1200" dirty="0" err="1"/>
              <a:t>standardised</a:t>
            </a:r>
            <a:r>
              <a:rPr lang="en-US" sz="1200" dirty="0"/>
              <a:t> them. The defendant and victim gender flags are not in the confounder matrix because they are the components of the treatment. Conditioning on them would literally erase the treatment variation.</a:t>
            </a:r>
          </a:p>
          <a:p>
            <a:r>
              <a:rPr lang="en-US" sz="1200" dirty="0"/>
              <a:t>This is the opposite of what we might naively expect. If the raw gap were purely driven by confounders, adjusting for them should pull</a:t>
            </a:r>
          </a:p>
          <a:p>
            <a:r>
              <a:rPr lang="en-US" sz="1200" dirty="0"/>
              <a:t>the estimate toward zero. Instead, adjustment </a:t>
            </a:r>
            <a:r>
              <a:rPr lang="en-US" sz="1200" i="1" dirty="0"/>
              <a:t>amplifies</a:t>
            </a:r>
            <a:r>
              <a:rPr lang="en-US" sz="1200" dirty="0"/>
              <a:t> the effect. This is because offence-mix confounding was partially </a:t>
            </a:r>
            <a:r>
              <a:rPr lang="en-US" sz="1200" i="1" dirty="0"/>
              <a:t>masking</a:t>
            </a:r>
            <a:r>
              <a:rPr lang="en-US" sz="1200" dirty="0"/>
              <a:t> the causal signal: male-on-female cases happen to concentrate in some offence types that carry statutorily </a:t>
            </a:r>
            <a:r>
              <a:rPr lang="en-US" sz="1200" i="1" dirty="0"/>
              <a:t>lighter</a:t>
            </a:r>
            <a:r>
              <a:rPr lang="en-US" sz="1200" dirty="0"/>
              <a:t> sentences on average (e.g. many assaults), while the treatment effect within offence categories pushes severity </a:t>
            </a:r>
            <a:r>
              <a:rPr lang="en-US" sz="1200" i="1" dirty="0"/>
              <a:t>up</a:t>
            </a:r>
            <a:r>
              <a:rPr lang="en-US" sz="1200" dirty="0"/>
              <a:t>. The two forces partially cancelled in the raw data. Adjustment reveals the underlying causal effect.</a:t>
            </a:r>
          </a:p>
          <a:p>
            <a:endParaRPr lang="en-US" sz="1200" dirty="0"/>
          </a:p>
          <a:p>
            <a:endParaRPr lang="en-US" sz="1200" dirty="0"/>
          </a:p>
          <a:p>
            <a:endParaRPr lang="en-SG"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AF6"/>
        </a:solidFill>
        <a:effectLst/>
      </p:bgPr>
    </p:bg>
    <p:spTree>
      <p:nvGrpSpPr>
        <p:cNvPr id="1" name=""/>
        <p:cNvGrpSpPr/>
        <p:nvPr/>
      </p:nvGrpSpPr>
      <p:grpSpPr>
        <a:xfrm>
          <a:off x="0" y="0"/>
          <a:ext cx="0" cy="0"/>
          <a:chOff x="0" y="0"/>
          <a:chExt cx="0" cy="0"/>
        </a:xfrm>
      </p:grpSpPr>
      <p:sp>
        <p:nvSpPr>
          <p:cNvPr id="6" name="Text 4"/>
          <p:cNvSpPr/>
          <p:nvPr/>
        </p:nvSpPr>
        <p:spPr>
          <a:xfrm>
            <a:off x="868680" y="228285"/>
            <a:ext cx="7680960" cy="457200"/>
          </a:xfrm>
          <a:prstGeom prst="rect">
            <a:avLst/>
          </a:prstGeom>
          <a:noFill/>
          <a:ln/>
        </p:spPr>
        <p:txBody>
          <a:bodyPr wrap="square" lIns="0" tIns="0" rIns="0" bIns="0" rtlCol="0" anchor="ctr"/>
          <a:lstStyle/>
          <a:p>
            <a:pPr marL="0" indent="0">
              <a:buNone/>
            </a:pPr>
            <a:r>
              <a:rPr lang="en-US" sz="2200" b="1" dirty="0">
                <a:solidFill>
                  <a:srgbClr val="1F1A24"/>
                </a:solidFill>
                <a:latin typeface="Georgia" pitchFamily="34" charset="0"/>
                <a:ea typeface="Georgia" pitchFamily="34" charset="-122"/>
                <a:cs typeface="Georgia" pitchFamily="34" charset="-120"/>
              </a:rPr>
              <a:t>How big is the effect, and where does it live?</a:t>
            </a:r>
            <a:endParaRPr lang="en-US" sz="2200" dirty="0"/>
          </a:p>
        </p:txBody>
      </p:sp>
      <p:pic>
        <p:nvPicPr>
          <p:cNvPr id="7" name="Image 0" descr="/home/claude/viz_three_outcomes.png"/>
          <p:cNvPicPr>
            <a:picLocks noChangeAspect="1"/>
          </p:cNvPicPr>
          <p:nvPr/>
        </p:nvPicPr>
        <p:blipFill>
          <a:blip r:embed="rId3"/>
          <a:stretch>
            <a:fillRect/>
          </a:stretch>
        </p:blipFill>
        <p:spPr>
          <a:xfrm>
            <a:off x="1041576" y="825183"/>
            <a:ext cx="6225540" cy="1953760"/>
          </a:xfrm>
          <a:prstGeom prst="rect">
            <a:avLst/>
          </a:prstGeom>
        </p:spPr>
      </p:pic>
      <p:sp>
        <p:nvSpPr>
          <p:cNvPr id="9" name="Text 6"/>
          <p:cNvSpPr/>
          <p:nvPr/>
        </p:nvSpPr>
        <p:spPr>
          <a:xfrm>
            <a:off x="685800" y="4514088"/>
            <a:ext cx="7863840" cy="502920"/>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Three different legal questions — three answers. The middle one is the clearest and largest: crossing into the severe band.</a:t>
            </a:r>
            <a:endParaRPr lang="en-US" sz="1100" dirty="0"/>
          </a:p>
        </p:txBody>
      </p:sp>
      <p:sp>
        <p:nvSpPr>
          <p:cNvPr id="11" name="TextBox 10">
            <a:extLst>
              <a:ext uri="{FF2B5EF4-FFF2-40B4-BE49-F238E27FC236}">
                <a16:creationId xmlns:a16="http://schemas.microsoft.com/office/drawing/2014/main" id="{909AD154-1EE2-FE36-86E8-A65AE9C5828B}"/>
              </a:ext>
            </a:extLst>
          </p:cNvPr>
          <p:cNvSpPr txBox="1"/>
          <p:nvPr/>
        </p:nvSpPr>
        <p:spPr>
          <a:xfrm>
            <a:off x="457200" y="2993985"/>
            <a:ext cx="8313420" cy="1661993"/>
          </a:xfrm>
          <a:prstGeom prst="rect">
            <a:avLst/>
          </a:prstGeom>
          <a:noFill/>
        </p:spPr>
        <p:txBody>
          <a:bodyPr wrap="square" rtlCol="0">
            <a:spAutoFit/>
          </a:bodyPr>
          <a:lstStyle/>
          <a:p>
            <a:r>
              <a:rPr lang="en-US" sz="1200" dirty="0"/>
              <a:t>Three panels, one per outcome. The left-hand "corrected severity" panel shows a consistent small positive effect across all adjusted</a:t>
            </a:r>
          </a:p>
          <a:p>
            <a:r>
              <a:rPr lang="en-US" sz="1200" dirty="0"/>
              <a:t>estimators. The middle "broad severe" panel shows effects clustered near zero. The right "capital" panel shows a clear, consistent, positive effect that survives every adjustment and has confidence intervals clear of zero in most cases.</a:t>
            </a:r>
          </a:p>
          <a:p>
            <a:endParaRPr lang="en-US" sz="1200" dirty="0"/>
          </a:p>
          <a:p>
            <a:r>
              <a:rPr lang="en-US" sz="1200" dirty="0"/>
              <a:t>This is the single figure to put in front of a legal audience. It answers three different legal questions at once, makes the direction of each answer visually immediate, and shows that the capital-outcome finding is the best-evidenced causal claim the corpus supports.</a:t>
            </a:r>
          </a:p>
          <a:p>
            <a:endParaRPr lang="en-SG"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AF6"/>
        </a:solidFill>
        <a:effectLst/>
      </p:bgPr>
    </p:bg>
    <p:spTree>
      <p:nvGrpSpPr>
        <p:cNvPr id="1" name=""/>
        <p:cNvGrpSpPr/>
        <p:nvPr/>
      </p:nvGrpSpPr>
      <p:grpSpPr>
        <a:xfrm>
          <a:off x="0" y="0"/>
          <a:ext cx="0" cy="0"/>
          <a:chOff x="0" y="0"/>
          <a:chExt cx="0" cy="0"/>
        </a:xfrm>
      </p:grpSpPr>
      <p:sp>
        <p:nvSpPr>
          <p:cNvPr id="4" name="Text 2"/>
          <p:cNvSpPr/>
          <p:nvPr/>
        </p:nvSpPr>
        <p:spPr>
          <a:xfrm>
            <a:off x="502920" y="32004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Q</a:t>
            </a:r>
            <a:endParaRPr lang="en-US" sz="1100" dirty="0"/>
          </a:p>
        </p:txBody>
      </p:sp>
      <p:sp>
        <p:nvSpPr>
          <p:cNvPr id="6" name="Text 4"/>
          <p:cNvSpPr/>
          <p:nvPr/>
        </p:nvSpPr>
        <p:spPr>
          <a:xfrm>
            <a:off x="868680" y="246888"/>
            <a:ext cx="7680960" cy="457200"/>
          </a:xfrm>
          <a:prstGeom prst="rect">
            <a:avLst/>
          </a:prstGeom>
          <a:noFill/>
          <a:ln/>
        </p:spPr>
        <p:txBody>
          <a:bodyPr wrap="square" lIns="0" tIns="0" rIns="0" bIns="0" rtlCol="0" anchor="ctr"/>
          <a:lstStyle/>
          <a:p>
            <a:pPr marL="0" indent="0">
              <a:buNone/>
            </a:pPr>
            <a:r>
              <a:rPr lang="en-US" sz="2200" b="1" dirty="0">
                <a:solidFill>
                  <a:srgbClr val="1F1A24"/>
                </a:solidFill>
                <a:latin typeface="Georgia" pitchFamily="34" charset="0"/>
                <a:ea typeface="Georgia" pitchFamily="34" charset="-122"/>
                <a:cs typeface="Georgia" pitchFamily="34" charset="-120"/>
              </a:rPr>
              <a:t>Was the pattern the same for every crime?</a:t>
            </a:r>
            <a:endParaRPr lang="en-US" sz="2200" dirty="0"/>
          </a:p>
        </p:txBody>
      </p:sp>
      <p:pic>
        <p:nvPicPr>
          <p:cNvPr id="7" name="Image 0" descr="/home/claude/viz_heterogeneity.png"/>
          <p:cNvPicPr>
            <a:picLocks noChangeAspect="1"/>
          </p:cNvPicPr>
          <p:nvPr/>
        </p:nvPicPr>
        <p:blipFill>
          <a:blip r:embed="rId3"/>
          <a:stretch>
            <a:fillRect/>
          </a:stretch>
        </p:blipFill>
        <p:spPr>
          <a:xfrm>
            <a:off x="502920" y="857250"/>
            <a:ext cx="4869180" cy="2434590"/>
          </a:xfrm>
          <a:prstGeom prst="rect">
            <a:avLst/>
          </a:prstGeom>
        </p:spPr>
      </p:pic>
      <p:sp>
        <p:nvSpPr>
          <p:cNvPr id="8" name="Text 5"/>
          <p:cNvSpPr/>
          <p:nvPr/>
        </p:nvSpPr>
        <p:spPr>
          <a:xfrm>
            <a:off x="5806440" y="976503"/>
            <a:ext cx="3078480" cy="457200"/>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The effect is not uniform</a:t>
            </a:r>
            <a:endParaRPr lang="en-US" sz="1300" dirty="0"/>
          </a:p>
        </p:txBody>
      </p:sp>
      <p:sp>
        <p:nvSpPr>
          <p:cNvPr id="9" name="Text 6"/>
          <p:cNvSpPr/>
          <p:nvPr/>
        </p:nvSpPr>
        <p:spPr>
          <a:xfrm>
            <a:off x="5613908" y="1501140"/>
            <a:ext cx="2806192" cy="1790700"/>
          </a:xfrm>
          <a:prstGeom prst="rect">
            <a:avLst/>
          </a:prstGeom>
          <a:noFill/>
          <a:ln/>
        </p:spPr>
        <p:txBody>
          <a:bodyPr wrap="square" lIns="0" tIns="0" rIns="0" bIns="0" rtlCol="0" anchor="t"/>
          <a:lstStyle/>
          <a:p>
            <a:pPr marL="0" indent="0">
              <a:buNone/>
            </a:pPr>
            <a:r>
              <a:rPr lang="en-US" sz="1050" dirty="0">
                <a:solidFill>
                  <a:srgbClr val="1F1A24"/>
                </a:solidFill>
                <a:latin typeface="Calibri" pitchFamily="34" charset="0"/>
                <a:ea typeface="Calibri" pitchFamily="34" charset="-122"/>
                <a:cs typeface="Calibri" pitchFamily="34" charset="-120"/>
              </a:rPr>
              <a:t>For some offence types the male-on-female effect is strongly harsher.</a:t>
            </a:r>
            <a:endParaRPr lang="en-US" sz="1050" dirty="0"/>
          </a:p>
          <a:p>
            <a:pPr marL="0" indent="0">
              <a:buNone/>
            </a:pPr>
            <a:endParaRPr lang="en-US" sz="1050" dirty="0"/>
          </a:p>
          <a:p>
            <a:pPr marL="0" indent="0">
              <a:buNone/>
            </a:pPr>
            <a:r>
              <a:rPr lang="en-US" sz="1050" dirty="0">
                <a:solidFill>
                  <a:srgbClr val="1F1A24"/>
                </a:solidFill>
                <a:latin typeface="Calibri" pitchFamily="34" charset="0"/>
                <a:ea typeface="Calibri" pitchFamily="34" charset="-122"/>
                <a:cs typeface="Calibri" pitchFamily="34" charset="-120"/>
              </a:rPr>
              <a:t>For others it is near zero.</a:t>
            </a:r>
            <a:endParaRPr lang="en-US" sz="1050" dirty="0"/>
          </a:p>
          <a:p>
            <a:pPr marL="0" indent="0">
              <a:buNone/>
            </a:pPr>
            <a:endParaRPr lang="en-US" sz="1050" dirty="0"/>
          </a:p>
          <a:p>
            <a:pPr marL="0" indent="0">
              <a:buNone/>
            </a:pPr>
            <a:r>
              <a:rPr lang="en-US" sz="1050" i="1" dirty="0">
                <a:solidFill>
                  <a:srgbClr val="1F1A24"/>
                </a:solidFill>
                <a:latin typeface="Calibri" pitchFamily="34" charset="0"/>
                <a:ea typeface="Calibri" pitchFamily="34" charset="-122"/>
                <a:cs typeface="Calibri" pitchFamily="34" charset="-120"/>
              </a:rPr>
              <a:t>The legal question is not </a:t>
            </a:r>
            <a:r>
              <a:rPr lang="en-US" sz="1050" i="1" dirty="0">
                <a:solidFill>
                  <a:srgbClr val="8B7F83"/>
                </a:solidFill>
                <a:latin typeface="Calibri" pitchFamily="34" charset="0"/>
                <a:ea typeface="Calibri" pitchFamily="34" charset="-122"/>
                <a:cs typeface="Calibri" pitchFamily="34" charset="-120"/>
              </a:rPr>
              <a:t>“does it matter?”</a:t>
            </a:r>
            <a:endParaRPr lang="en-US" sz="1050" dirty="0"/>
          </a:p>
          <a:p>
            <a:pPr marL="0" indent="0">
              <a:buNone/>
            </a:pPr>
            <a:r>
              <a:rPr lang="en-US" sz="1050" i="1" dirty="0">
                <a:solidFill>
                  <a:srgbClr val="1F1A24"/>
                </a:solidFill>
                <a:latin typeface="Calibri" pitchFamily="34" charset="0"/>
                <a:ea typeface="Calibri" pitchFamily="34" charset="-122"/>
                <a:cs typeface="Calibri" pitchFamily="34" charset="-120"/>
              </a:rPr>
              <a:t>but </a:t>
            </a:r>
            <a:r>
              <a:rPr lang="en-US" sz="1050" b="1" i="1" dirty="0">
                <a:solidFill>
                  <a:srgbClr val="C9A34E"/>
                </a:solidFill>
                <a:latin typeface="Calibri" pitchFamily="34" charset="0"/>
                <a:ea typeface="Calibri" pitchFamily="34" charset="-122"/>
                <a:cs typeface="Calibri" pitchFamily="34" charset="-120"/>
              </a:rPr>
              <a:t>“in which offences does it matter, and by how much?”</a:t>
            </a:r>
            <a:endParaRPr lang="en-US" sz="1050" dirty="0"/>
          </a:p>
        </p:txBody>
      </p:sp>
      <p:sp>
        <p:nvSpPr>
          <p:cNvPr id="11" name="Text 8"/>
          <p:cNvSpPr/>
          <p:nvPr/>
        </p:nvSpPr>
        <p:spPr>
          <a:xfrm>
            <a:off x="356108" y="4590288"/>
            <a:ext cx="8453628" cy="502920"/>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Statute constrained the envelope. The male-on-female effect lives inside that envelope, and is strongest where discretion was widest.</a:t>
            </a:r>
            <a:endParaRPr lang="en-US" sz="1100" dirty="0"/>
          </a:p>
        </p:txBody>
      </p:sp>
      <p:sp>
        <p:nvSpPr>
          <p:cNvPr id="16" name="TextBox 15">
            <a:extLst>
              <a:ext uri="{FF2B5EF4-FFF2-40B4-BE49-F238E27FC236}">
                <a16:creationId xmlns:a16="http://schemas.microsoft.com/office/drawing/2014/main" id="{9ADAAC48-DF5E-EAE2-93D3-E761DAFBA4AE}"/>
              </a:ext>
            </a:extLst>
          </p:cNvPr>
          <p:cNvSpPr txBox="1"/>
          <p:nvPr/>
        </p:nvSpPr>
        <p:spPr>
          <a:xfrm>
            <a:off x="356108" y="3291840"/>
            <a:ext cx="8453628" cy="1292662"/>
          </a:xfrm>
          <a:prstGeom prst="rect">
            <a:avLst/>
          </a:prstGeom>
          <a:noFill/>
        </p:spPr>
        <p:txBody>
          <a:bodyPr wrap="square" rtlCol="0">
            <a:spAutoFit/>
          </a:bodyPr>
          <a:lstStyle/>
          <a:p>
            <a:r>
              <a:rPr lang="en-US" sz="1200" dirty="0"/>
              <a:t>The causal pattern is concentrated, not uniform. A small number of offence types account for most of the population-level</a:t>
            </a:r>
          </a:p>
          <a:p>
            <a:r>
              <a:rPr lang="en-US" sz="1200" dirty="0"/>
              <a:t>effect we saw in Step 8. This makes sense legally: 19th-century statutes imposed capital or transportation eligibility on a limited set of crimes (murder, rape, some aggravated assaults, infanticide). The male-on-female configuration cannot produce a capital sentence in an offence category where capital is not available, so any treatment effect on capital outcome must come from a narrow band of offence categories where the statute permits it. The heterogeneity plot </a:t>
            </a:r>
            <a:r>
              <a:rPr lang="en-US" sz="1200" dirty="0" err="1"/>
              <a:t>visualises</a:t>
            </a:r>
            <a:r>
              <a:rPr lang="en-US" sz="1200" dirty="0"/>
              <a:t> exactly that statutory structure.</a:t>
            </a:r>
          </a:p>
          <a:p>
            <a:endParaRPr lang="en-SG"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AF6"/>
        </a:solidFill>
        <a:effectLst/>
      </p:bgPr>
    </p:bg>
    <p:spTree>
      <p:nvGrpSpPr>
        <p:cNvPr id="1" name=""/>
        <p:cNvGrpSpPr/>
        <p:nvPr/>
      </p:nvGrpSpPr>
      <p:grpSpPr>
        <a:xfrm>
          <a:off x="0" y="0"/>
          <a:ext cx="0" cy="0"/>
          <a:chOff x="0" y="0"/>
          <a:chExt cx="0" cy="0"/>
        </a:xfrm>
      </p:grpSpPr>
      <p:sp>
        <p:nvSpPr>
          <p:cNvPr id="6" name="Text 4"/>
          <p:cNvSpPr/>
          <p:nvPr/>
        </p:nvSpPr>
        <p:spPr>
          <a:xfrm>
            <a:off x="731520" y="243840"/>
            <a:ext cx="7680960" cy="457200"/>
          </a:xfrm>
          <a:prstGeom prst="rect">
            <a:avLst/>
          </a:prstGeom>
          <a:noFill/>
          <a:ln/>
        </p:spPr>
        <p:txBody>
          <a:bodyPr wrap="square" lIns="0" tIns="0" rIns="0" bIns="0" rtlCol="0" anchor="ctr"/>
          <a:lstStyle/>
          <a:p>
            <a:pPr marL="0" indent="0">
              <a:buNone/>
            </a:pPr>
            <a:r>
              <a:rPr lang="en-US" sz="2200" b="1" dirty="0">
                <a:solidFill>
                  <a:srgbClr val="1F1A24"/>
                </a:solidFill>
                <a:latin typeface="Georgia" pitchFamily="34" charset="0"/>
                <a:ea typeface="Georgia" pitchFamily="34" charset="-122"/>
                <a:cs typeface="Georgia" pitchFamily="34" charset="-120"/>
              </a:rPr>
              <a:t>What does this mean for criminal justice?</a:t>
            </a:r>
            <a:endParaRPr lang="en-US" sz="2200" dirty="0"/>
          </a:p>
        </p:txBody>
      </p:sp>
      <p:sp>
        <p:nvSpPr>
          <p:cNvPr id="7" name="Shape 5"/>
          <p:cNvSpPr/>
          <p:nvPr/>
        </p:nvSpPr>
        <p:spPr>
          <a:xfrm>
            <a:off x="502920" y="1143000"/>
            <a:ext cx="8229600" cy="960120"/>
          </a:xfrm>
          <a:prstGeom prst="rect">
            <a:avLst/>
          </a:prstGeom>
          <a:solidFill>
            <a:srgbClr val="FFFFFF"/>
          </a:solidFill>
          <a:ln w="12700">
            <a:solidFill>
              <a:srgbClr val="ECE2D0"/>
            </a:solidFill>
            <a:prstDash val="solid"/>
          </a:ln>
          <a:effectLst>
            <a:outerShdw blurRad="76200" dist="25400" dir="8100000" algn="bl" rotWithShape="0">
              <a:srgbClr val="000000">
                <a:alpha val="8000"/>
              </a:srgbClr>
            </a:outerShdw>
          </a:effectLst>
        </p:spPr>
        <p:txBody>
          <a:bodyPr/>
          <a:lstStyle/>
          <a:p>
            <a:endParaRPr lang="en-SG"/>
          </a:p>
        </p:txBody>
      </p:sp>
      <p:sp>
        <p:nvSpPr>
          <p:cNvPr id="8" name="Shape 6"/>
          <p:cNvSpPr/>
          <p:nvPr/>
        </p:nvSpPr>
        <p:spPr>
          <a:xfrm>
            <a:off x="502920" y="1143000"/>
            <a:ext cx="91440" cy="960120"/>
          </a:xfrm>
          <a:prstGeom prst="rect">
            <a:avLst/>
          </a:prstGeom>
          <a:solidFill>
            <a:srgbClr val="6D2E46"/>
          </a:solidFill>
          <a:ln w="12700">
            <a:solidFill>
              <a:srgbClr val="6D2E46"/>
            </a:solidFill>
            <a:prstDash val="solid"/>
          </a:ln>
        </p:spPr>
        <p:txBody>
          <a:bodyPr/>
          <a:lstStyle/>
          <a:p>
            <a:endParaRPr lang="en-SG"/>
          </a:p>
        </p:txBody>
      </p:sp>
      <p:sp>
        <p:nvSpPr>
          <p:cNvPr id="9" name="Text 7"/>
          <p:cNvSpPr/>
          <p:nvPr/>
        </p:nvSpPr>
        <p:spPr>
          <a:xfrm>
            <a:off x="731520" y="1252728"/>
            <a:ext cx="7955280" cy="320040"/>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On proportionality</a:t>
            </a:r>
            <a:endParaRPr lang="en-US" sz="1300" dirty="0"/>
          </a:p>
        </p:txBody>
      </p:sp>
      <p:sp>
        <p:nvSpPr>
          <p:cNvPr id="10" name="Text 8"/>
          <p:cNvSpPr/>
          <p:nvPr/>
        </p:nvSpPr>
        <p:spPr>
          <a:xfrm>
            <a:off x="731520" y="1600200"/>
            <a:ext cx="7955280" cy="457200"/>
          </a:xfrm>
          <a:prstGeom prst="rect">
            <a:avLst/>
          </a:prstGeom>
          <a:noFill/>
          <a:ln/>
        </p:spPr>
        <p:txBody>
          <a:bodyPr wrap="square" lIns="0" tIns="0" rIns="0" bIns="0" rtlCol="0" anchor="t"/>
          <a:lstStyle/>
          <a:p>
            <a:pPr marL="0" indent="0">
              <a:buNone/>
            </a:pPr>
            <a:r>
              <a:rPr lang="en-US" sz="1050" dirty="0">
                <a:solidFill>
                  <a:srgbClr val="1F1A24"/>
                </a:solidFill>
                <a:latin typeface="Calibri" pitchFamily="34" charset="0"/>
                <a:ea typeface="Calibri" pitchFamily="34" charset="-122"/>
                <a:cs typeface="Calibri" pitchFamily="34" charset="-120"/>
              </a:rPr>
              <a:t>Offence type and evidence dominate sentencing outcomes — consistent with the statutory proportionality principle. Most of what we see is lawful, tariff-driven adjudication.</a:t>
            </a:r>
            <a:endParaRPr lang="en-US" sz="1050" dirty="0"/>
          </a:p>
        </p:txBody>
      </p:sp>
      <p:sp>
        <p:nvSpPr>
          <p:cNvPr id="11" name="Shape 9"/>
          <p:cNvSpPr/>
          <p:nvPr/>
        </p:nvSpPr>
        <p:spPr>
          <a:xfrm>
            <a:off x="502920" y="2212848"/>
            <a:ext cx="8229600" cy="960120"/>
          </a:xfrm>
          <a:prstGeom prst="rect">
            <a:avLst/>
          </a:prstGeom>
          <a:solidFill>
            <a:srgbClr val="FFFFFF"/>
          </a:solidFill>
          <a:ln w="12700">
            <a:solidFill>
              <a:srgbClr val="ECE2D0"/>
            </a:solidFill>
            <a:prstDash val="solid"/>
          </a:ln>
          <a:effectLst>
            <a:outerShdw blurRad="76200" dist="25400" dir="8100000" algn="bl" rotWithShape="0">
              <a:srgbClr val="000000">
                <a:alpha val="8000"/>
              </a:srgbClr>
            </a:outerShdw>
          </a:effectLst>
        </p:spPr>
        <p:txBody>
          <a:bodyPr/>
          <a:lstStyle/>
          <a:p>
            <a:endParaRPr lang="en-SG"/>
          </a:p>
        </p:txBody>
      </p:sp>
      <p:sp>
        <p:nvSpPr>
          <p:cNvPr id="12" name="Shape 10"/>
          <p:cNvSpPr/>
          <p:nvPr/>
        </p:nvSpPr>
        <p:spPr>
          <a:xfrm>
            <a:off x="502920" y="2212848"/>
            <a:ext cx="91440" cy="960120"/>
          </a:xfrm>
          <a:prstGeom prst="rect">
            <a:avLst/>
          </a:prstGeom>
          <a:solidFill>
            <a:srgbClr val="50808E"/>
          </a:solidFill>
          <a:ln w="12700">
            <a:solidFill>
              <a:srgbClr val="50808E"/>
            </a:solidFill>
            <a:prstDash val="solid"/>
          </a:ln>
        </p:spPr>
        <p:txBody>
          <a:bodyPr/>
          <a:lstStyle/>
          <a:p>
            <a:endParaRPr lang="en-SG"/>
          </a:p>
        </p:txBody>
      </p:sp>
      <p:sp>
        <p:nvSpPr>
          <p:cNvPr id="13" name="Text 11"/>
          <p:cNvSpPr/>
          <p:nvPr/>
        </p:nvSpPr>
        <p:spPr>
          <a:xfrm>
            <a:off x="731520" y="2322576"/>
            <a:ext cx="7955280" cy="320040"/>
          </a:xfrm>
          <a:prstGeom prst="rect">
            <a:avLst/>
          </a:prstGeom>
          <a:noFill/>
          <a:ln/>
        </p:spPr>
        <p:txBody>
          <a:bodyPr wrap="square" lIns="0" tIns="0" rIns="0" bIns="0" rtlCol="0" anchor="ctr"/>
          <a:lstStyle/>
          <a:p>
            <a:pPr marL="0" indent="0">
              <a:buNone/>
            </a:pPr>
            <a:r>
              <a:rPr lang="en-US" sz="1300" b="1" dirty="0">
                <a:solidFill>
                  <a:srgbClr val="50808E"/>
                </a:solidFill>
                <a:latin typeface="Georgia" pitchFamily="34" charset="0"/>
                <a:ea typeface="Georgia" pitchFamily="34" charset="-122"/>
                <a:cs typeface="Georgia" pitchFamily="34" charset="-120"/>
              </a:rPr>
              <a:t>On the severe-band disparity</a:t>
            </a:r>
            <a:endParaRPr lang="en-US" sz="1300" dirty="0"/>
          </a:p>
        </p:txBody>
      </p:sp>
      <p:sp>
        <p:nvSpPr>
          <p:cNvPr id="14" name="Text 12"/>
          <p:cNvSpPr/>
          <p:nvPr/>
        </p:nvSpPr>
        <p:spPr>
          <a:xfrm>
            <a:off x="731520" y="2670048"/>
            <a:ext cx="7955280" cy="457200"/>
          </a:xfrm>
          <a:prstGeom prst="rect">
            <a:avLst/>
          </a:prstGeom>
          <a:noFill/>
          <a:ln/>
        </p:spPr>
        <p:txBody>
          <a:bodyPr wrap="square" lIns="0" tIns="0" rIns="0" bIns="0" rtlCol="0" anchor="t"/>
          <a:lstStyle/>
          <a:p>
            <a:pPr marL="0" indent="0">
              <a:buNone/>
            </a:pPr>
            <a:r>
              <a:rPr lang="en-US" sz="1050" dirty="0">
                <a:solidFill>
                  <a:srgbClr val="1F1A24"/>
                </a:solidFill>
                <a:latin typeface="Calibri" pitchFamily="34" charset="0"/>
                <a:ea typeface="Calibri" pitchFamily="34" charset="-122"/>
                <a:cs typeface="Calibri" pitchFamily="34" charset="-120"/>
              </a:rPr>
              <a:t>After adjustment, male-on-female cases were about 4 percentage points more likely to cross into hard-labour-or-worse territory than comparable cases. This is where disparate treatment lives.</a:t>
            </a:r>
            <a:endParaRPr lang="en-US" sz="1050" dirty="0"/>
          </a:p>
        </p:txBody>
      </p:sp>
      <p:sp>
        <p:nvSpPr>
          <p:cNvPr id="15" name="Shape 13"/>
          <p:cNvSpPr/>
          <p:nvPr/>
        </p:nvSpPr>
        <p:spPr>
          <a:xfrm>
            <a:off x="502920" y="3282696"/>
            <a:ext cx="8229600" cy="960120"/>
          </a:xfrm>
          <a:prstGeom prst="rect">
            <a:avLst/>
          </a:prstGeom>
          <a:solidFill>
            <a:srgbClr val="FFFFFF"/>
          </a:solidFill>
          <a:ln w="12700">
            <a:solidFill>
              <a:srgbClr val="ECE2D0"/>
            </a:solidFill>
            <a:prstDash val="solid"/>
          </a:ln>
          <a:effectLst>
            <a:outerShdw blurRad="76200" dist="25400" dir="8100000" algn="bl" rotWithShape="0">
              <a:srgbClr val="000000">
                <a:alpha val="8000"/>
              </a:srgbClr>
            </a:outerShdw>
          </a:effectLst>
        </p:spPr>
        <p:txBody>
          <a:bodyPr/>
          <a:lstStyle/>
          <a:p>
            <a:endParaRPr lang="en-SG"/>
          </a:p>
        </p:txBody>
      </p:sp>
      <p:sp>
        <p:nvSpPr>
          <p:cNvPr id="16" name="Shape 14"/>
          <p:cNvSpPr/>
          <p:nvPr/>
        </p:nvSpPr>
        <p:spPr>
          <a:xfrm>
            <a:off x="502920" y="3282696"/>
            <a:ext cx="91440" cy="960120"/>
          </a:xfrm>
          <a:prstGeom prst="rect">
            <a:avLst/>
          </a:prstGeom>
          <a:solidFill>
            <a:srgbClr val="C9A34E"/>
          </a:solidFill>
          <a:ln w="12700">
            <a:solidFill>
              <a:srgbClr val="C9A34E"/>
            </a:solidFill>
            <a:prstDash val="solid"/>
          </a:ln>
        </p:spPr>
        <p:txBody>
          <a:bodyPr/>
          <a:lstStyle/>
          <a:p>
            <a:endParaRPr lang="en-SG"/>
          </a:p>
        </p:txBody>
      </p:sp>
      <p:sp>
        <p:nvSpPr>
          <p:cNvPr id="17" name="Text 15"/>
          <p:cNvSpPr/>
          <p:nvPr/>
        </p:nvSpPr>
        <p:spPr>
          <a:xfrm>
            <a:off x="731520" y="3392424"/>
            <a:ext cx="7955280" cy="320040"/>
          </a:xfrm>
          <a:prstGeom prst="rect">
            <a:avLst/>
          </a:prstGeom>
          <a:noFill/>
          <a:ln/>
        </p:spPr>
        <p:txBody>
          <a:bodyPr wrap="square" lIns="0" tIns="0" rIns="0" bIns="0" rtlCol="0" anchor="ctr"/>
          <a:lstStyle/>
          <a:p>
            <a:pPr marL="0" indent="0">
              <a:buNone/>
            </a:pPr>
            <a:r>
              <a:rPr lang="en-US" sz="1300" b="1" dirty="0">
                <a:solidFill>
                  <a:srgbClr val="C9A34E"/>
                </a:solidFill>
                <a:latin typeface="Georgia" pitchFamily="34" charset="0"/>
                <a:ea typeface="Georgia" pitchFamily="34" charset="-122"/>
                <a:cs typeface="Georgia" pitchFamily="34" charset="-120"/>
              </a:rPr>
              <a:t>On capital sentencing</a:t>
            </a:r>
            <a:endParaRPr lang="en-US" sz="1300" dirty="0"/>
          </a:p>
        </p:txBody>
      </p:sp>
      <p:sp>
        <p:nvSpPr>
          <p:cNvPr id="18" name="Text 16"/>
          <p:cNvSpPr/>
          <p:nvPr/>
        </p:nvSpPr>
        <p:spPr>
          <a:xfrm>
            <a:off x="731520" y="3739896"/>
            <a:ext cx="7955280" cy="457200"/>
          </a:xfrm>
          <a:prstGeom prst="rect">
            <a:avLst/>
          </a:prstGeom>
          <a:noFill/>
          <a:ln/>
        </p:spPr>
        <p:txBody>
          <a:bodyPr wrap="square" lIns="0" tIns="0" rIns="0" bIns="0" rtlCol="0" anchor="t"/>
          <a:lstStyle/>
          <a:p>
            <a:pPr marL="0" indent="0">
              <a:buNone/>
            </a:pPr>
            <a:r>
              <a:rPr lang="en-US" sz="1050" dirty="0">
                <a:solidFill>
                  <a:srgbClr val="1F1A24"/>
                </a:solidFill>
                <a:latin typeface="Calibri" pitchFamily="34" charset="0"/>
                <a:ea typeface="Calibri" pitchFamily="34" charset="-122"/>
                <a:cs typeface="Calibri" pitchFamily="34" charset="-120"/>
              </a:rPr>
              <a:t>The striking 7× raw capital-rate gap shrinks sharply after controlling for offence mix. A small but non-zero causal effect survives (AIPW +0.4 pp), concentrated in statutorily-eligible offences.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02920" y="320040"/>
            <a:ext cx="384048"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Q</a:t>
            </a:r>
            <a:endParaRPr lang="en-US" sz="1100" dirty="0"/>
          </a:p>
        </p:txBody>
      </p:sp>
      <p:sp>
        <p:nvSpPr>
          <p:cNvPr id="6" name="Text 4"/>
          <p:cNvSpPr/>
          <p:nvPr/>
        </p:nvSpPr>
        <p:spPr>
          <a:xfrm>
            <a:off x="886968" y="160020"/>
            <a:ext cx="7680960" cy="457200"/>
          </a:xfrm>
          <a:prstGeom prst="rect">
            <a:avLst/>
          </a:prstGeom>
          <a:noFill/>
          <a:ln/>
        </p:spPr>
        <p:txBody>
          <a:bodyPr wrap="square" lIns="0" tIns="0" rIns="0" bIns="0" rtlCol="0" anchor="ctr"/>
          <a:lstStyle/>
          <a:p>
            <a:pPr marL="0" indent="0">
              <a:buNone/>
            </a:pPr>
            <a:r>
              <a:rPr lang="en-US" sz="2200" b="1" dirty="0">
                <a:solidFill>
                  <a:srgbClr val="1F1A24"/>
                </a:solidFill>
                <a:latin typeface="Georgia" pitchFamily="34" charset="0"/>
                <a:ea typeface="Georgia" pitchFamily="34" charset="-122"/>
                <a:cs typeface="Georgia" pitchFamily="34" charset="-120"/>
              </a:rPr>
              <a:t>Do the statistics match the actual cases?</a:t>
            </a:r>
            <a:endParaRPr lang="en-US" sz="2200" dirty="0"/>
          </a:p>
        </p:txBody>
      </p:sp>
      <p:pic>
        <p:nvPicPr>
          <p:cNvPr id="7" name="Image 0" descr="/home/claude/viz_topic_labels.png"/>
          <p:cNvPicPr>
            <a:picLocks noChangeAspect="1"/>
          </p:cNvPicPr>
          <p:nvPr/>
        </p:nvPicPr>
        <p:blipFill>
          <a:blip r:embed="rId3"/>
          <a:stretch>
            <a:fillRect/>
          </a:stretch>
        </p:blipFill>
        <p:spPr>
          <a:xfrm>
            <a:off x="392430" y="1108710"/>
            <a:ext cx="5303520" cy="2926080"/>
          </a:xfrm>
          <a:prstGeom prst="rect">
            <a:avLst/>
          </a:prstGeom>
        </p:spPr>
      </p:pic>
      <p:sp>
        <p:nvSpPr>
          <p:cNvPr id="8" name="Text 5"/>
          <p:cNvSpPr/>
          <p:nvPr/>
        </p:nvSpPr>
        <p:spPr>
          <a:xfrm>
            <a:off x="5867400" y="1108710"/>
            <a:ext cx="3017520" cy="548640"/>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The topics have real legal identities</a:t>
            </a:r>
            <a:endParaRPr lang="en-US" sz="1300" dirty="0"/>
          </a:p>
        </p:txBody>
      </p:sp>
      <p:sp>
        <p:nvSpPr>
          <p:cNvPr id="9" name="Text 6"/>
          <p:cNvSpPr/>
          <p:nvPr/>
        </p:nvSpPr>
        <p:spPr>
          <a:xfrm>
            <a:off x="5867400" y="1862187"/>
            <a:ext cx="3017520" cy="2251421"/>
          </a:xfrm>
          <a:prstGeom prst="rect">
            <a:avLst/>
          </a:prstGeom>
          <a:noFill/>
          <a:ln/>
        </p:spPr>
        <p:txBody>
          <a:bodyPr wrap="square" lIns="0" tIns="0" rIns="0" bIns="0" rtlCol="0" anchor="t"/>
          <a:lstStyle/>
          <a:p>
            <a:pPr marL="0" indent="0">
              <a:buNone/>
            </a:pPr>
            <a:r>
              <a:rPr lang="en-US" sz="1050" dirty="0">
                <a:solidFill>
                  <a:srgbClr val="1F1A24"/>
                </a:solidFill>
                <a:latin typeface="Calibri" pitchFamily="34" charset="0"/>
                <a:ea typeface="Calibri" pitchFamily="34" charset="-122"/>
                <a:cs typeface="Calibri" pitchFamily="34" charset="-120"/>
              </a:rPr>
              <a:t>Reading the vocabulary of each LDA topic gives us plain-English labels.</a:t>
            </a:r>
            <a:endParaRPr lang="en-US" sz="1050" dirty="0"/>
          </a:p>
          <a:p>
            <a:pPr marL="0" indent="0">
              <a:buNone/>
            </a:pPr>
            <a:endParaRPr lang="en-US" sz="1050" dirty="0"/>
          </a:p>
          <a:p>
            <a:pPr marL="0" indent="0">
              <a:buNone/>
            </a:pPr>
            <a:r>
              <a:rPr lang="en-US" sz="1050" b="1" dirty="0">
                <a:solidFill>
                  <a:srgbClr val="6D2E46"/>
                </a:solidFill>
                <a:latin typeface="Calibri" pitchFamily="34" charset="0"/>
                <a:ea typeface="Calibri" pitchFamily="34" charset="-122"/>
                <a:cs typeface="Calibri" pitchFamily="34" charset="-120"/>
              </a:rPr>
              <a:t>Topic 2 </a:t>
            </a:r>
            <a:r>
              <a:rPr lang="en-US" sz="1050" dirty="0">
                <a:solidFill>
                  <a:srgbClr val="1F1A24"/>
                </a:solidFill>
                <a:latin typeface="Calibri" pitchFamily="34" charset="0"/>
                <a:ea typeface="Calibri" pitchFamily="34" charset="-122"/>
                <a:cs typeface="Calibri" pitchFamily="34" charset="-120"/>
              </a:rPr>
              <a:t>(“child, wife, house”) is 49% male-on-female — this is domestic / family violence.</a:t>
            </a:r>
            <a:endParaRPr lang="en-US" sz="1050" dirty="0"/>
          </a:p>
          <a:p>
            <a:pPr marL="0" indent="0">
              <a:buNone/>
            </a:pPr>
            <a:endParaRPr lang="en-US" sz="1050" dirty="0"/>
          </a:p>
          <a:p>
            <a:pPr marL="0" indent="0">
              <a:buNone/>
            </a:pPr>
            <a:r>
              <a:rPr lang="en-US" sz="1050" b="1" dirty="0">
                <a:solidFill>
                  <a:srgbClr val="6D2E46"/>
                </a:solidFill>
                <a:latin typeface="Calibri" pitchFamily="34" charset="0"/>
                <a:ea typeface="Calibri" pitchFamily="34" charset="-122"/>
                <a:cs typeface="Calibri" pitchFamily="34" charset="-120"/>
              </a:rPr>
              <a:t>Topic 9 </a:t>
            </a:r>
            <a:r>
              <a:rPr lang="en-US" sz="1050" dirty="0">
                <a:solidFill>
                  <a:srgbClr val="1F1A24"/>
                </a:solidFill>
                <a:latin typeface="Calibri" pitchFamily="34" charset="0"/>
                <a:ea typeface="Calibri" pitchFamily="34" charset="-122"/>
                <a:cs typeface="Calibri" pitchFamily="34" charset="-120"/>
              </a:rPr>
              <a:t>(“coin, counterfeit”) is 3% MoF — coining and uttering counterfeit coin.</a:t>
            </a:r>
            <a:endParaRPr lang="en-US" sz="1050" dirty="0"/>
          </a:p>
          <a:p>
            <a:pPr marL="0" indent="0">
              <a:buNone/>
            </a:pPr>
            <a:endParaRPr lang="en-US" sz="1050" dirty="0"/>
          </a:p>
          <a:p>
            <a:pPr marL="0" indent="0">
              <a:buNone/>
            </a:pPr>
            <a:r>
              <a:rPr lang="en-US" sz="1100" b="1" i="1" dirty="0">
                <a:solidFill>
                  <a:srgbClr val="C9A34E"/>
                </a:solidFill>
                <a:latin typeface="Calibri" pitchFamily="34" charset="0"/>
                <a:ea typeface="Calibri" pitchFamily="34" charset="-122"/>
                <a:cs typeface="Calibri" pitchFamily="34" charset="-120"/>
              </a:rPr>
              <a:t>The heterogeneity plot isn’t abstract — it tracks the period’s offence structure.</a:t>
            </a:r>
            <a:endParaRPr lang="en-US" sz="1050" dirty="0"/>
          </a:p>
        </p:txBody>
      </p:sp>
      <p:sp>
        <p:nvSpPr>
          <p:cNvPr id="11" name="Text 8"/>
          <p:cNvSpPr/>
          <p:nvPr/>
        </p:nvSpPr>
        <p:spPr>
          <a:xfrm>
            <a:off x="986364" y="4241605"/>
            <a:ext cx="7482168" cy="628783"/>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The model’s heterogeneity recovers a real feature of Victorian sentencing law — not a statistical artefact.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85800" y="115824"/>
            <a:ext cx="7680960" cy="457200"/>
          </a:xfrm>
          <a:prstGeom prst="rect">
            <a:avLst/>
          </a:prstGeom>
          <a:noFill/>
          <a:ln/>
        </p:spPr>
        <p:txBody>
          <a:bodyPr wrap="square" lIns="0" tIns="0" rIns="0" bIns="0" rtlCol="0" anchor="ctr"/>
          <a:lstStyle/>
          <a:p>
            <a:pPr marL="0" indent="0">
              <a:buNone/>
            </a:pPr>
            <a:r>
              <a:rPr lang="en-US" sz="2200" b="1" dirty="0">
                <a:solidFill>
                  <a:srgbClr val="1F1A24"/>
                </a:solidFill>
                <a:latin typeface="Georgia" pitchFamily="34" charset="0"/>
                <a:ea typeface="Georgia" pitchFamily="34" charset="-122"/>
                <a:cs typeface="Georgia" pitchFamily="34" charset="-120"/>
              </a:rPr>
              <a:t>What does the 7× capital gap mean?</a:t>
            </a:r>
            <a:endParaRPr lang="en-US" sz="2200" dirty="0"/>
          </a:p>
        </p:txBody>
      </p:sp>
      <p:sp>
        <p:nvSpPr>
          <p:cNvPr id="7" name="Shape 5"/>
          <p:cNvSpPr/>
          <p:nvPr/>
        </p:nvSpPr>
        <p:spPr>
          <a:xfrm>
            <a:off x="502920" y="685800"/>
            <a:ext cx="3931920" cy="2834640"/>
          </a:xfrm>
          <a:prstGeom prst="rect">
            <a:avLst/>
          </a:prstGeom>
          <a:solidFill>
            <a:srgbClr val="FFFFFF"/>
          </a:solidFill>
          <a:ln w="12700">
            <a:solidFill>
              <a:srgbClr val="ECE2D0"/>
            </a:solidFill>
            <a:prstDash val="solid"/>
          </a:ln>
          <a:effectLst>
            <a:outerShdw blurRad="101600" dist="25400" dir="8100000" algn="bl" rotWithShape="0">
              <a:srgbClr val="000000">
                <a:alpha val="8000"/>
              </a:srgbClr>
            </a:outerShdw>
          </a:effectLst>
        </p:spPr>
        <p:txBody>
          <a:bodyPr/>
          <a:lstStyle/>
          <a:p>
            <a:endParaRPr lang="en-SG"/>
          </a:p>
        </p:txBody>
      </p:sp>
      <p:sp>
        <p:nvSpPr>
          <p:cNvPr id="9" name="Text 7"/>
          <p:cNvSpPr/>
          <p:nvPr/>
        </p:nvSpPr>
        <p:spPr>
          <a:xfrm>
            <a:off x="731520" y="777240"/>
            <a:ext cx="3657600" cy="320040"/>
          </a:xfrm>
          <a:prstGeom prst="rect">
            <a:avLst/>
          </a:prstGeom>
          <a:noFill/>
          <a:ln/>
        </p:spPr>
        <p:txBody>
          <a:bodyPr wrap="square" lIns="0" tIns="0" rIns="0" bIns="0" rtlCol="0" anchor="ctr"/>
          <a:lstStyle/>
          <a:p>
            <a:pPr marL="0" indent="0">
              <a:buNone/>
            </a:pPr>
            <a:r>
              <a:rPr lang="en-US" sz="1300" b="1" dirty="0">
                <a:solidFill>
                  <a:srgbClr val="6D2E46"/>
                </a:solidFill>
                <a:latin typeface="Georgia" pitchFamily="34" charset="0"/>
                <a:ea typeface="Georgia" pitchFamily="34" charset="-122"/>
                <a:cs typeface="Georgia" pitchFamily="34" charset="-120"/>
              </a:rPr>
              <a:t>Of the 75 capital verdicts:</a:t>
            </a:r>
            <a:endParaRPr lang="en-US" sz="1300" dirty="0"/>
          </a:p>
        </p:txBody>
      </p:sp>
      <p:sp>
        <p:nvSpPr>
          <p:cNvPr id="10" name="Text 8"/>
          <p:cNvSpPr/>
          <p:nvPr/>
        </p:nvSpPr>
        <p:spPr>
          <a:xfrm>
            <a:off x="731520" y="1188720"/>
            <a:ext cx="3657600" cy="914400"/>
          </a:xfrm>
          <a:prstGeom prst="rect">
            <a:avLst/>
          </a:prstGeom>
          <a:noFill/>
          <a:ln/>
        </p:spPr>
        <p:txBody>
          <a:bodyPr wrap="square" lIns="0" tIns="0" rIns="0" bIns="0" rtlCol="0" anchor="ctr"/>
          <a:lstStyle/>
          <a:p>
            <a:pPr marL="0" indent="0">
              <a:buNone/>
            </a:pPr>
            <a:r>
              <a:rPr lang="en-US" sz="8000" b="1" dirty="0">
                <a:solidFill>
                  <a:srgbClr val="6D2E46"/>
                </a:solidFill>
                <a:latin typeface="Georgia" pitchFamily="34" charset="0"/>
                <a:ea typeface="Georgia" pitchFamily="34" charset="-122"/>
                <a:cs typeface="Georgia" pitchFamily="34" charset="-120"/>
              </a:rPr>
              <a:t>50</a:t>
            </a:r>
            <a:endParaRPr lang="en-US" sz="8000" dirty="0"/>
          </a:p>
        </p:txBody>
      </p:sp>
      <p:sp>
        <p:nvSpPr>
          <p:cNvPr id="11" name="Text 9"/>
          <p:cNvSpPr/>
          <p:nvPr/>
        </p:nvSpPr>
        <p:spPr>
          <a:xfrm>
            <a:off x="731520" y="2103120"/>
            <a:ext cx="3657600" cy="320040"/>
          </a:xfrm>
          <a:prstGeom prst="rect">
            <a:avLst/>
          </a:prstGeom>
          <a:noFill/>
          <a:ln/>
        </p:spPr>
        <p:txBody>
          <a:bodyPr wrap="square" lIns="0" tIns="0" rIns="0" bIns="0" rtlCol="0" anchor="ctr"/>
          <a:lstStyle/>
          <a:p>
            <a:pPr marL="0" indent="0">
              <a:buNone/>
            </a:pPr>
            <a:r>
              <a:rPr lang="en-US" sz="1300" dirty="0">
                <a:solidFill>
                  <a:srgbClr val="1F1A24"/>
                </a:solidFill>
                <a:latin typeface="Calibri" pitchFamily="34" charset="0"/>
                <a:ea typeface="Calibri" pitchFamily="34" charset="-122"/>
                <a:cs typeface="Calibri" pitchFamily="34" charset="-120"/>
              </a:rPr>
              <a:t>were male-on-female  (67%)</a:t>
            </a:r>
            <a:endParaRPr lang="en-US" sz="1300" dirty="0"/>
          </a:p>
        </p:txBody>
      </p:sp>
      <p:sp>
        <p:nvSpPr>
          <p:cNvPr id="12" name="Text 10"/>
          <p:cNvSpPr/>
          <p:nvPr/>
        </p:nvSpPr>
        <p:spPr>
          <a:xfrm>
            <a:off x="731520" y="2560320"/>
            <a:ext cx="3657600" cy="868680"/>
          </a:xfrm>
          <a:prstGeom prst="rect">
            <a:avLst/>
          </a:prstGeom>
          <a:noFill/>
          <a:ln/>
        </p:spPr>
        <p:txBody>
          <a:bodyPr wrap="square" lIns="0" tIns="0" rIns="0" bIns="0" rtlCol="0" anchor="t"/>
          <a:lstStyle/>
          <a:p>
            <a:pPr marL="0" indent="0">
              <a:buNone/>
            </a:pPr>
            <a:r>
              <a:rPr lang="en-US" sz="1100" dirty="0">
                <a:solidFill>
                  <a:srgbClr val="1F1A24"/>
                </a:solidFill>
                <a:latin typeface="Calibri" pitchFamily="34" charset="0"/>
                <a:ea typeface="Calibri" pitchFamily="34" charset="-122"/>
                <a:cs typeface="Calibri" pitchFamily="34" charset="-120"/>
              </a:rPr>
              <a:t>Reading every single one: nearly all are </a:t>
            </a:r>
            <a:r>
              <a:rPr lang="en-US" sz="1100" b="1" dirty="0">
                <a:solidFill>
                  <a:srgbClr val="6D2E46"/>
                </a:solidFill>
                <a:latin typeface="Calibri" pitchFamily="34" charset="0"/>
                <a:ea typeface="Calibri" pitchFamily="34" charset="-122"/>
                <a:cs typeface="Calibri" pitchFamily="34" charset="-120"/>
              </a:rPr>
              <a:t>wilful murder</a:t>
            </a:r>
            <a:r>
              <a:rPr lang="en-US" sz="1100" dirty="0">
                <a:solidFill>
                  <a:srgbClr val="1F1A24"/>
                </a:solidFill>
                <a:latin typeface="Calibri" pitchFamily="34" charset="0"/>
                <a:ea typeface="Calibri" pitchFamily="34" charset="-122"/>
                <a:cs typeface="Calibri" pitchFamily="34" charset="-120"/>
              </a:rPr>
              <a:t> indictments. The defendants killed a named female victim — usually a wife, partner, or relative.</a:t>
            </a:r>
            <a:endParaRPr lang="en-US" sz="1100" dirty="0"/>
          </a:p>
        </p:txBody>
      </p:sp>
      <p:sp>
        <p:nvSpPr>
          <p:cNvPr id="13" name="Shape 11"/>
          <p:cNvSpPr/>
          <p:nvPr/>
        </p:nvSpPr>
        <p:spPr>
          <a:xfrm>
            <a:off x="4663440" y="685800"/>
            <a:ext cx="4023360" cy="2834640"/>
          </a:xfrm>
          <a:prstGeom prst="rect">
            <a:avLst/>
          </a:prstGeom>
          <a:solidFill>
            <a:srgbClr val="FFFFFF"/>
          </a:solidFill>
          <a:ln w="12700">
            <a:solidFill>
              <a:srgbClr val="ECE2D0"/>
            </a:solidFill>
            <a:prstDash val="solid"/>
          </a:ln>
          <a:effectLst>
            <a:outerShdw blurRad="101600" dist="25400" dir="8100000" algn="bl" rotWithShape="0">
              <a:srgbClr val="000000">
                <a:alpha val="8000"/>
              </a:srgbClr>
            </a:outerShdw>
          </a:effectLst>
        </p:spPr>
        <p:txBody>
          <a:bodyPr/>
          <a:lstStyle/>
          <a:p>
            <a:endParaRPr lang="en-SG"/>
          </a:p>
        </p:txBody>
      </p:sp>
      <p:sp>
        <p:nvSpPr>
          <p:cNvPr id="15" name="Text 13"/>
          <p:cNvSpPr/>
          <p:nvPr/>
        </p:nvSpPr>
        <p:spPr>
          <a:xfrm>
            <a:off x="4892040" y="777240"/>
            <a:ext cx="3749040" cy="320040"/>
          </a:xfrm>
          <a:prstGeom prst="rect">
            <a:avLst/>
          </a:prstGeom>
          <a:noFill/>
          <a:ln/>
        </p:spPr>
        <p:txBody>
          <a:bodyPr wrap="square" lIns="0" tIns="0" rIns="0" bIns="0" rtlCol="0" anchor="ctr"/>
          <a:lstStyle/>
          <a:p>
            <a:pPr marL="0" indent="0">
              <a:buNone/>
            </a:pPr>
            <a:r>
              <a:rPr lang="en-US" sz="1300" b="1" dirty="0">
                <a:solidFill>
                  <a:srgbClr val="50808E"/>
                </a:solidFill>
                <a:latin typeface="Georgia" pitchFamily="34" charset="0"/>
                <a:ea typeface="Georgia" pitchFamily="34" charset="-122"/>
                <a:cs typeface="Georgia" pitchFamily="34" charset="-120"/>
              </a:rPr>
              <a:t>A matched pair</a:t>
            </a:r>
            <a:endParaRPr lang="en-US" sz="1300" dirty="0"/>
          </a:p>
        </p:txBody>
      </p:sp>
      <p:sp>
        <p:nvSpPr>
          <p:cNvPr id="16" name="Text 14"/>
          <p:cNvSpPr/>
          <p:nvPr/>
        </p:nvSpPr>
        <p:spPr>
          <a:xfrm>
            <a:off x="4892040" y="1161288"/>
            <a:ext cx="3749040" cy="2240280"/>
          </a:xfrm>
          <a:prstGeom prst="rect">
            <a:avLst/>
          </a:prstGeom>
          <a:noFill/>
          <a:ln/>
        </p:spPr>
        <p:txBody>
          <a:bodyPr wrap="square" lIns="0" tIns="0" rIns="0" bIns="0" rtlCol="0" anchor="t"/>
          <a:lstStyle/>
          <a:p>
            <a:pPr marL="0" indent="0">
              <a:buNone/>
            </a:pPr>
            <a:r>
              <a:rPr lang="en-US" sz="1000" b="1" dirty="0">
                <a:solidFill>
                  <a:srgbClr val="6D2E46"/>
                </a:solidFill>
                <a:latin typeface="Calibri" pitchFamily="34" charset="0"/>
                <a:ea typeface="Calibri" pitchFamily="34" charset="-122"/>
                <a:cs typeface="Calibri" pitchFamily="34" charset="-120"/>
              </a:rPr>
              <a:t>TREATED </a:t>
            </a:r>
            <a:r>
              <a:rPr lang="en-US" sz="1000" dirty="0">
                <a:solidFill>
                  <a:srgbClr val="8B7F83"/>
                </a:solidFill>
                <a:latin typeface="Calibri" pitchFamily="34" charset="0"/>
                <a:ea typeface="Calibri" pitchFamily="34" charset="-122"/>
                <a:cs typeface="Calibri" pitchFamily="34" charset="-120"/>
              </a:rPr>
              <a:t>(male-on-female):</a:t>
            </a:r>
            <a:endParaRPr lang="en-US" sz="1000" dirty="0"/>
          </a:p>
          <a:p>
            <a:pPr marL="0" indent="0">
              <a:buNone/>
            </a:pPr>
            <a:r>
              <a:rPr lang="en-US" sz="1100" i="1" dirty="0">
                <a:solidFill>
                  <a:srgbClr val="1F1A24"/>
                </a:solidFill>
                <a:latin typeface="Calibri" pitchFamily="34" charset="0"/>
                <a:ea typeface="Calibri" pitchFamily="34" charset="-122"/>
                <a:cs typeface="Calibri" pitchFamily="34" charset="-120"/>
              </a:rPr>
              <a:t>Robert Earl — wilful murder of Margaret Pamphilon</a:t>
            </a:r>
            <a:endParaRPr lang="en-US" sz="1000" dirty="0"/>
          </a:p>
          <a:p>
            <a:pPr marL="0" indent="0">
              <a:buNone/>
            </a:pPr>
            <a:r>
              <a:rPr lang="en-US" sz="1100" b="1" dirty="0">
                <a:solidFill>
                  <a:srgbClr val="6D2E46"/>
                </a:solidFill>
                <a:latin typeface="Calibri" pitchFamily="34" charset="0"/>
                <a:ea typeface="Calibri" pitchFamily="34" charset="-122"/>
                <a:cs typeface="Calibri" pitchFamily="34" charset="-120"/>
              </a:rPr>
              <a:t>→ capital sentence</a:t>
            </a:r>
            <a:endParaRPr lang="en-US" sz="1000" dirty="0"/>
          </a:p>
          <a:p>
            <a:pPr marL="0" indent="0">
              <a:buNone/>
            </a:pPr>
            <a:endParaRPr lang="en-US" sz="1000" dirty="0"/>
          </a:p>
          <a:p>
            <a:pPr marL="0" indent="0">
              <a:buNone/>
            </a:pPr>
            <a:r>
              <a:rPr lang="en-US" sz="1000" b="1" dirty="0">
                <a:solidFill>
                  <a:srgbClr val="50808E"/>
                </a:solidFill>
                <a:latin typeface="Calibri" pitchFamily="34" charset="0"/>
                <a:ea typeface="Calibri" pitchFamily="34" charset="-122"/>
                <a:cs typeface="Calibri" pitchFamily="34" charset="-120"/>
              </a:rPr>
              <a:t>CONTROL </a:t>
            </a:r>
            <a:r>
              <a:rPr lang="en-US" sz="1000" dirty="0">
                <a:solidFill>
                  <a:srgbClr val="8B7F83"/>
                </a:solidFill>
                <a:latin typeface="Calibri" pitchFamily="34" charset="0"/>
                <a:ea typeface="Calibri" pitchFamily="34" charset="-122"/>
                <a:cs typeface="Calibri" pitchFamily="34" charset="-120"/>
              </a:rPr>
              <a:t>(nearly-identical propensity):</a:t>
            </a:r>
            <a:endParaRPr lang="en-US" sz="1000" dirty="0"/>
          </a:p>
          <a:p>
            <a:pPr marL="0" indent="0">
              <a:buNone/>
            </a:pPr>
            <a:r>
              <a:rPr lang="en-US" sz="1100" i="1" dirty="0">
                <a:solidFill>
                  <a:srgbClr val="1F1A24"/>
                </a:solidFill>
                <a:latin typeface="Calibri" pitchFamily="34" charset="0"/>
                <a:ea typeface="Calibri" pitchFamily="34" charset="-122"/>
                <a:cs typeface="Calibri" pitchFamily="34" charset="-120"/>
              </a:rPr>
              <a:t>Herbert Madden — wilful murder of Herbert Patrick Madden</a:t>
            </a:r>
            <a:endParaRPr lang="en-US" sz="1000" dirty="0"/>
          </a:p>
          <a:p>
            <a:pPr marL="0" indent="0">
              <a:buNone/>
            </a:pPr>
            <a:r>
              <a:rPr lang="en-US" sz="1100" b="1" dirty="0">
                <a:solidFill>
                  <a:srgbClr val="50808E"/>
                </a:solidFill>
                <a:latin typeface="Calibri" pitchFamily="34" charset="0"/>
                <a:ea typeface="Calibri" pitchFamily="34" charset="-122"/>
                <a:cs typeface="Calibri" pitchFamily="34" charset="-120"/>
              </a:rPr>
              <a:t>→ non-custodial</a:t>
            </a:r>
            <a:endParaRPr lang="en-US" sz="1000" dirty="0"/>
          </a:p>
          <a:p>
            <a:pPr marL="0" indent="0">
              <a:buNone/>
            </a:pPr>
            <a:endParaRPr lang="en-US" sz="1000" dirty="0"/>
          </a:p>
          <a:p>
            <a:pPr marL="0" indent="0">
              <a:buNone/>
            </a:pPr>
            <a:r>
              <a:rPr lang="en-US" sz="950" i="1" dirty="0">
                <a:solidFill>
                  <a:srgbClr val="8B7F83"/>
                </a:solidFill>
                <a:latin typeface="Calibri" pitchFamily="34" charset="0"/>
                <a:ea typeface="Calibri" pitchFamily="34" charset="-122"/>
                <a:cs typeface="Calibri" pitchFamily="34" charset="-120"/>
              </a:rPr>
              <a:t>Match distance: 0.003 on the logit scale. Same offence topic. Different outcome.</a:t>
            </a:r>
            <a:endParaRPr lang="en-US" sz="1000" dirty="0"/>
          </a:p>
        </p:txBody>
      </p:sp>
      <p:sp>
        <p:nvSpPr>
          <p:cNvPr id="18" name="Text 16"/>
          <p:cNvSpPr/>
          <p:nvPr/>
        </p:nvSpPr>
        <p:spPr>
          <a:xfrm>
            <a:off x="502920" y="3566160"/>
            <a:ext cx="8183880" cy="502920"/>
          </a:xfrm>
          <a:prstGeom prst="rect">
            <a:avLst/>
          </a:prstGeom>
          <a:noFill/>
          <a:ln/>
        </p:spPr>
        <p:txBody>
          <a:bodyPr wrap="square" lIns="0" tIns="0" rIns="0" bIns="0" rtlCol="0" anchor="ctr"/>
          <a:lstStyle/>
          <a:p>
            <a:pPr marL="0" indent="0">
              <a:buNone/>
            </a:pPr>
            <a:r>
              <a:rPr lang="en-US" sz="1200" dirty="0">
                <a:latin typeface="Calibri" pitchFamily="34" charset="0"/>
                <a:ea typeface="Calibri" pitchFamily="34" charset="-122"/>
                <a:cs typeface="Calibri" pitchFamily="34" charset="-120"/>
              </a:rPr>
              <a:t>Close reading validates direction. The effect is not abstract — it is wilful murder of women by male partners. Historically specific.</a:t>
            </a:r>
            <a:endParaRPr lang="en-US" sz="1100" dirty="0"/>
          </a:p>
        </p:txBody>
      </p:sp>
      <p:sp>
        <p:nvSpPr>
          <p:cNvPr id="20" name="TextBox 19">
            <a:extLst>
              <a:ext uri="{FF2B5EF4-FFF2-40B4-BE49-F238E27FC236}">
                <a16:creationId xmlns:a16="http://schemas.microsoft.com/office/drawing/2014/main" id="{84302E4B-F299-370C-C081-54C9161BBA27}"/>
              </a:ext>
            </a:extLst>
          </p:cNvPr>
          <p:cNvSpPr txBox="1"/>
          <p:nvPr/>
        </p:nvSpPr>
        <p:spPr>
          <a:xfrm>
            <a:off x="449580" y="4081671"/>
            <a:ext cx="8442960" cy="1061829"/>
          </a:xfrm>
          <a:prstGeom prst="rect">
            <a:avLst/>
          </a:prstGeom>
          <a:noFill/>
        </p:spPr>
        <p:txBody>
          <a:bodyPr wrap="square" rtlCol="0">
            <a:spAutoFit/>
          </a:bodyPr>
          <a:lstStyle/>
          <a:p>
            <a:r>
              <a:rPr lang="en-US" sz="1500" dirty="0">
                <a:latin typeface="Georgia" panose="02040502050405020303" pitchFamily="18" charset="0"/>
              </a:rPr>
              <a:t>Does the model's "male-on-female cases get harsher sentences" finding mean the statistical algorithm is picking up a real legal pattern, or an artefact? In the capital band at least, close reading confirms it is real, concrete, and historically specific.</a:t>
            </a:r>
          </a:p>
          <a:p>
            <a:endParaRPr lang="en-SG"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DFAF6"/>
        </a:solidFill>
        <a:effectLst/>
      </p:bgPr>
    </p:bg>
    <p:spTree>
      <p:nvGrpSpPr>
        <p:cNvPr id="1" name=""/>
        <p:cNvGrpSpPr/>
        <p:nvPr/>
      </p:nvGrpSpPr>
      <p:grpSpPr>
        <a:xfrm>
          <a:off x="0" y="0"/>
          <a:ext cx="0" cy="0"/>
          <a:chOff x="0" y="0"/>
          <a:chExt cx="0" cy="0"/>
        </a:xfrm>
      </p:grpSpPr>
      <p:sp>
        <p:nvSpPr>
          <p:cNvPr id="7" name="Shape 5"/>
          <p:cNvSpPr/>
          <p:nvPr/>
        </p:nvSpPr>
        <p:spPr>
          <a:xfrm>
            <a:off x="312420" y="762000"/>
            <a:ext cx="8519160" cy="3985260"/>
          </a:xfrm>
          <a:prstGeom prst="rect">
            <a:avLst/>
          </a:prstGeom>
          <a:solidFill>
            <a:srgbClr val="FFFFFF"/>
          </a:solidFill>
          <a:ln w="12700">
            <a:solidFill>
              <a:srgbClr val="ECE2D0"/>
            </a:solidFill>
            <a:prstDash val="solid"/>
          </a:ln>
        </p:spPr>
        <p:txBody>
          <a:bodyPr/>
          <a:lstStyle/>
          <a:p>
            <a:r>
              <a:rPr lang="en-US" sz="1300" dirty="0"/>
              <a:t>The three matched pairs show exactly the pattern the statistics imply — but they also show the limits of what matching can do.</a:t>
            </a:r>
          </a:p>
          <a:p>
            <a:endParaRPr lang="en-US" sz="1300" dirty="0"/>
          </a:p>
          <a:p>
            <a:r>
              <a:rPr lang="en-US" sz="1300" dirty="0"/>
              <a:t>The treated case in each pair is a </a:t>
            </a:r>
            <a:r>
              <a:rPr lang="en-US" sz="1300" dirty="0" err="1"/>
              <a:t>wilful</a:t>
            </a:r>
            <a:r>
              <a:rPr lang="en-US" sz="1300" dirty="0"/>
              <a:t> murder indictment against a female victim, ending in capital sentencing. The matched control — chosen by the algorithm because the case-level features are statistically similar — is in each case also an indictment for a serious crime (attempted murder, </a:t>
            </a:r>
            <a:r>
              <a:rPr lang="en-US" sz="1300" dirty="0" err="1"/>
              <a:t>wilful</a:t>
            </a:r>
            <a:r>
              <a:rPr lang="en-US" sz="1300" dirty="0"/>
              <a:t> murder of a male victim, or shooting with intent). But the controls received dramatically lighter sentences: non-custodial or institutional.</a:t>
            </a:r>
          </a:p>
          <a:p>
            <a:r>
              <a:rPr lang="en-US" sz="1300" dirty="0"/>
              <a:t>The honest caveat close reading forces us to make. These pairs are dramatic because we asked for cases where outcomes differed most. They are not representative of the average matched pair — most matched pairs have very similar outcomes. What the pairs illustrate is therefore the mechanism (where and how the effect operates) rather than its average magnitude.</a:t>
            </a:r>
          </a:p>
          <a:p>
            <a:endParaRPr lang="en-US" sz="1300" dirty="0"/>
          </a:p>
          <a:p>
            <a:r>
              <a:rPr lang="en-US" sz="1300" dirty="0"/>
              <a:t>Reading these pairs side-by-side is the closest an observational analysis can come to saying: for two cases with comparable evidence, narrative, and offence topic, the male-on-female configuration was associated with a categorically harsher outcome. A legal historian reading the three pairs above would </a:t>
            </a:r>
            <a:r>
              <a:rPr lang="en-US" sz="1300" dirty="0" err="1"/>
              <a:t>recognise</a:t>
            </a:r>
            <a:r>
              <a:rPr lang="en-US" sz="1300" dirty="0"/>
              <a:t> a pattern consistent with documented Victorian-era sentencing practices around lethal violence against women. But they would also, correctly, point out that the 1,500+ matched pairs where outcomes don’t differ are the ones that pull the average effect down to its modest +4.4 pp size.</a:t>
            </a:r>
          </a:p>
        </p:txBody>
      </p:sp>
      <p:sp>
        <p:nvSpPr>
          <p:cNvPr id="18" name="TextBox 17">
            <a:extLst>
              <a:ext uri="{FF2B5EF4-FFF2-40B4-BE49-F238E27FC236}">
                <a16:creationId xmlns:a16="http://schemas.microsoft.com/office/drawing/2014/main" id="{7C092C88-30C6-2802-E89B-0A4C2751ECBF}"/>
              </a:ext>
            </a:extLst>
          </p:cNvPr>
          <p:cNvSpPr txBox="1"/>
          <p:nvPr/>
        </p:nvSpPr>
        <p:spPr>
          <a:xfrm>
            <a:off x="464820" y="266700"/>
            <a:ext cx="4937760" cy="369332"/>
          </a:xfrm>
          <a:prstGeom prst="rect">
            <a:avLst/>
          </a:prstGeom>
          <a:noFill/>
        </p:spPr>
        <p:txBody>
          <a:bodyPr wrap="square" rtlCol="0">
            <a:spAutoFit/>
          </a:bodyPr>
          <a:lstStyle/>
          <a:p>
            <a:r>
              <a:rPr lang="en-US" b="1" dirty="0">
                <a:solidFill>
                  <a:srgbClr val="1F1A24"/>
                </a:solidFill>
                <a:latin typeface="Georgia" pitchFamily="34" charset="0"/>
              </a:rPr>
              <a:t>What we Learnt…</a:t>
            </a:r>
            <a:endParaRPr lang="en-SG"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BA8FE-7EED-AE9F-5B5E-9BBEB896E47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57D7A2F2-759D-14C7-C267-2CC5286E7458}"/>
              </a:ext>
            </a:extLst>
          </p:cNvPr>
          <p:cNvSpPr/>
          <p:nvPr/>
        </p:nvSpPr>
        <p:spPr>
          <a:xfrm>
            <a:off x="502920" y="312420"/>
            <a:ext cx="7536180" cy="754380"/>
          </a:xfrm>
          <a:prstGeom prst="rect">
            <a:avLst/>
          </a:prstGeom>
          <a:noFill/>
          <a:ln/>
        </p:spPr>
        <p:txBody>
          <a:bodyPr wrap="square" lIns="0" tIns="0" rIns="0" bIns="0" rtlCol="0" anchor="ctr"/>
          <a:lstStyle/>
          <a:p>
            <a:pPr marL="0" indent="0">
              <a:buNone/>
            </a:pPr>
            <a:r>
              <a:rPr lang="en-US" sz="2200" b="1" dirty="0">
                <a:latin typeface="Georgia" pitchFamily="34" charset="0"/>
                <a:ea typeface="Georgia" pitchFamily="34" charset="-122"/>
                <a:cs typeface="Georgia" pitchFamily="34" charset="-120"/>
              </a:rPr>
              <a:t>Causal Findings</a:t>
            </a:r>
            <a:endParaRPr lang="en-US" sz="2200" dirty="0"/>
          </a:p>
        </p:txBody>
      </p:sp>
      <p:sp>
        <p:nvSpPr>
          <p:cNvPr id="7" name="Text 5">
            <a:extLst>
              <a:ext uri="{FF2B5EF4-FFF2-40B4-BE49-F238E27FC236}">
                <a16:creationId xmlns:a16="http://schemas.microsoft.com/office/drawing/2014/main" id="{369AFA0A-B9C4-CB5F-20A9-963F802944AF}"/>
              </a:ext>
            </a:extLst>
          </p:cNvPr>
          <p:cNvSpPr/>
          <p:nvPr/>
        </p:nvSpPr>
        <p:spPr>
          <a:xfrm>
            <a:off x="396240" y="1196340"/>
            <a:ext cx="8473440" cy="373380"/>
          </a:xfrm>
          <a:prstGeom prst="rect">
            <a:avLst/>
          </a:prstGeom>
          <a:noFill/>
          <a:ln/>
        </p:spPr>
        <p:txBody>
          <a:bodyPr wrap="square" lIns="0" tIns="0" rIns="0" bIns="0" rtlCol="0" anchor="ctr"/>
          <a:lstStyle/>
          <a:p>
            <a:r>
              <a:rPr lang="en-US" b="1" dirty="0"/>
              <a:t>1. On average, male‑on‑female cases receive harsher sentences.</a:t>
            </a:r>
          </a:p>
        </p:txBody>
      </p:sp>
      <p:sp>
        <p:nvSpPr>
          <p:cNvPr id="8" name="Text 6">
            <a:extLst>
              <a:ext uri="{FF2B5EF4-FFF2-40B4-BE49-F238E27FC236}">
                <a16:creationId xmlns:a16="http://schemas.microsoft.com/office/drawing/2014/main" id="{8F9F071F-2C70-910A-7993-8B1445846774}"/>
              </a:ext>
            </a:extLst>
          </p:cNvPr>
          <p:cNvSpPr/>
          <p:nvPr/>
        </p:nvSpPr>
        <p:spPr>
          <a:xfrm>
            <a:off x="410718" y="1569720"/>
            <a:ext cx="8367522" cy="640080"/>
          </a:xfrm>
          <a:prstGeom prst="rect">
            <a:avLst/>
          </a:prstGeom>
          <a:noFill/>
          <a:ln/>
        </p:spPr>
        <p:txBody>
          <a:bodyPr wrap="square" lIns="0" tIns="0" rIns="0" bIns="0" rtlCol="0" anchor="t"/>
          <a:lstStyle/>
          <a:p>
            <a:r>
              <a:rPr lang="en-US" sz="1200" dirty="0"/>
              <a:t>Even after holding offence type, evidence intensity, and narrative framing constant, the presence of a male defendant and female victim is causally associated with a small but statistically robust increase in sentence severity.</a:t>
            </a:r>
            <a:endParaRPr lang="en-US" sz="1000" dirty="0"/>
          </a:p>
        </p:txBody>
      </p:sp>
      <p:sp>
        <p:nvSpPr>
          <p:cNvPr id="9" name="Text 7">
            <a:extLst>
              <a:ext uri="{FF2B5EF4-FFF2-40B4-BE49-F238E27FC236}">
                <a16:creationId xmlns:a16="http://schemas.microsoft.com/office/drawing/2014/main" id="{8B253C90-B48F-3F2F-8226-C104F7FB3CAB}"/>
              </a:ext>
            </a:extLst>
          </p:cNvPr>
          <p:cNvSpPr/>
          <p:nvPr/>
        </p:nvSpPr>
        <p:spPr>
          <a:xfrm>
            <a:off x="502920" y="2255520"/>
            <a:ext cx="822960" cy="960120"/>
          </a:xfrm>
          <a:prstGeom prst="rect">
            <a:avLst/>
          </a:prstGeom>
          <a:noFill/>
          <a:ln/>
        </p:spPr>
        <p:txBody>
          <a:bodyPr wrap="square" lIns="0" tIns="0" rIns="0" bIns="0" rtlCol="0" anchor="ctr"/>
          <a:lstStyle/>
          <a:p>
            <a:pPr marL="0" indent="0" algn="ctr">
              <a:buNone/>
            </a:pPr>
            <a:endParaRPr lang="en-US" sz="3600" dirty="0"/>
          </a:p>
        </p:txBody>
      </p:sp>
      <p:sp>
        <p:nvSpPr>
          <p:cNvPr id="11" name="Text 9">
            <a:extLst>
              <a:ext uri="{FF2B5EF4-FFF2-40B4-BE49-F238E27FC236}">
                <a16:creationId xmlns:a16="http://schemas.microsoft.com/office/drawing/2014/main" id="{7E8A337F-D624-EBA2-9728-E099CDF5CDD2}"/>
              </a:ext>
            </a:extLst>
          </p:cNvPr>
          <p:cNvSpPr/>
          <p:nvPr/>
        </p:nvSpPr>
        <p:spPr>
          <a:xfrm>
            <a:off x="434340" y="2400300"/>
            <a:ext cx="8275320" cy="373380"/>
          </a:xfrm>
          <a:prstGeom prst="rect">
            <a:avLst/>
          </a:prstGeom>
          <a:noFill/>
          <a:ln/>
        </p:spPr>
        <p:txBody>
          <a:bodyPr wrap="square" lIns="0" tIns="0" rIns="0" bIns="0" rtlCol="0" anchor="ctr"/>
          <a:lstStyle/>
          <a:p>
            <a:r>
              <a:rPr lang="en-US" b="1" dirty="0"/>
              <a:t>2. The most consequential effect is crossing the “severe band” (hard </a:t>
            </a:r>
            <a:r>
              <a:rPr lang="en-US" b="1" dirty="0" err="1"/>
              <a:t>labour</a:t>
            </a:r>
            <a:r>
              <a:rPr lang="en-US" b="1" dirty="0"/>
              <a:t> or capital).</a:t>
            </a:r>
          </a:p>
        </p:txBody>
      </p:sp>
      <p:sp>
        <p:nvSpPr>
          <p:cNvPr id="12" name="Text 10">
            <a:extLst>
              <a:ext uri="{FF2B5EF4-FFF2-40B4-BE49-F238E27FC236}">
                <a16:creationId xmlns:a16="http://schemas.microsoft.com/office/drawing/2014/main" id="{F4FF470B-4C45-CED6-11C7-DF83254F63F4}"/>
              </a:ext>
            </a:extLst>
          </p:cNvPr>
          <p:cNvSpPr/>
          <p:nvPr/>
        </p:nvSpPr>
        <p:spPr>
          <a:xfrm>
            <a:off x="396240" y="2903220"/>
            <a:ext cx="8367522" cy="640080"/>
          </a:xfrm>
          <a:prstGeom prst="rect">
            <a:avLst/>
          </a:prstGeom>
          <a:noFill/>
          <a:ln/>
        </p:spPr>
        <p:txBody>
          <a:bodyPr wrap="square" lIns="0" tIns="0" rIns="0" bIns="0" rtlCol="0" anchor="t"/>
          <a:lstStyle/>
          <a:p>
            <a:r>
              <a:rPr lang="en-US" sz="1200" dirty="0"/>
              <a:t>Offence‑mix confounding had </a:t>
            </a:r>
            <a:r>
              <a:rPr lang="en-US" sz="1200" b="1" dirty="0"/>
              <a:t>masked</a:t>
            </a:r>
            <a:r>
              <a:rPr lang="en-US" sz="1200" dirty="0"/>
              <a:t> a real causal effect. Once comparable offences are compared, male‑on‑female cases are about 4.4 pp more likely to receive a sentence of hard </a:t>
            </a:r>
            <a:r>
              <a:rPr lang="en-US" sz="1200" dirty="0" err="1"/>
              <a:t>labour</a:t>
            </a:r>
            <a:r>
              <a:rPr lang="en-US" sz="1200" dirty="0"/>
              <a:t> or worse. This is the headline disparity: the threshold that distinguishes ordinary imprisonment from the harshest non‑capital punishments.</a:t>
            </a:r>
            <a:endParaRPr lang="en-US" sz="1000" dirty="0"/>
          </a:p>
        </p:txBody>
      </p:sp>
      <p:sp>
        <p:nvSpPr>
          <p:cNvPr id="15" name="Text 13">
            <a:extLst>
              <a:ext uri="{FF2B5EF4-FFF2-40B4-BE49-F238E27FC236}">
                <a16:creationId xmlns:a16="http://schemas.microsoft.com/office/drawing/2014/main" id="{43245DC5-7267-F7B3-07B3-6F8066CE0FE6}"/>
              </a:ext>
            </a:extLst>
          </p:cNvPr>
          <p:cNvSpPr/>
          <p:nvPr/>
        </p:nvSpPr>
        <p:spPr>
          <a:xfrm>
            <a:off x="434339" y="3573780"/>
            <a:ext cx="8396859" cy="373380"/>
          </a:xfrm>
          <a:prstGeom prst="rect">
            <a:avLst/>
          </a:prstGeom>
          <a:noFill/>
          <a:ln/>
        </p:spPr>
        <p:txBody>
          <a:bodyPr wrap="square" lIns="0" tIns="0" rIns="0" bIns="0" rtlCol="0" anchor="ctr"/>
          <a:lstStyle/>
          <a:p>
            <a:r>
              <a:rPr lang="en-US" b="1" dirty="0"/>
              <a:t>3. Capital sentencing is driven by offence type, not gender configuration.</a:t>
            </a:r>
          </a:p>
        </p:txBody>
      </p:sp>
      <p:sp>
        <p:nvSpPr>
          <p:cNvPr id="16" name="Text 14">
            <a:extLst>
              <a:ext uri="{FF2B5EF4-FFF2-40B4-BE49-F238E27FC236}">
                <a16:creationId xmlns:a16="http://schemas.microsoft.com/office/drawing/2014/main" id="{B510148C-146A-96E4-7B72-11F1D730A82E}"/>
              </a:ext>
            </a:extLst>
          </p:cNvPr>
          <p:cNvSpPr/>
          <p:nvPr/>
        </p:nvSpPr>
        <p:spPr>
          <a:xfrm>
            <a:off x="396240" y="3947160"/>
            <a:ext cx="8367522" cy="640080"/>
          </a:xfrm>
          <a:prstGeom prst="rect">
            <a:avLst/>
          </a:prstGeom>
          <a:noFill/>
          <a:ln/>
        </p:spPr>
        <p:txBody>
          <a:bodyPr wrap="square" lIns="0" tIns="0" rIns="0" bIns="0" rtlCol="0" anchor="t"/>
          <a:lstStyle/>
          <a:p>
            <a:pPr marL="0" indent="0">
              <a:buNone/>
            </a:pPr>
            <a:r>
              <a:rPr lang="en-US" sz="1150" dirty="0">
                <a:latin typeface="Calibri" pitchFamily="34" charset="0"/>
                <a:ea typeface="Calibri" pitchFamily="34" charset="-122"/>
                <a:cs typeface="Calibri" pitchFamily="34" charset="-120"/>
              </a:rPr>
              <a:t>The 7× raw capital-rate gap is mostly explained by offence-type differences. A residual effect of less than half a percentage point survives adjustment.</a:t>
            </a:r>
            <a:endParaRPr lang="en-US" sz="1150" dirty="0"/>
          </a:p>
        </p:txBody>
      </p:sp>
    </p:spTree>
    <p:extLst>
      <p:ext uri="{BB962C8B-B14F-4D97-AF65-F5344CB8AC3E}">
        <p14:creationId xmlns:p14="http://schemas.microsoft.com/office/powerpoint/2010/main" val="2947291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name="Slide 12">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365760" y="228600"/>
            <a:ext cx="1097280" cy="1097280"/>
          </a:xfrm>
          <a:prstGeom prst="rect">
            <a:avLst/>
          </a:prstGeom>
          <a:noFill/>
          <a:ln/>
        </p:spPr>
        <p:txBody>
          <a:bodyPr wrap="square" lIns="0" tIns="0" rIns="0" bIns="0" rtlCol="0" anchor="ctr"/>
          <a:lstStyle/>
          <a:p>
            <a:pPr marL="0" indent="0">
              <a:buNone/>
            </a:pPr>
            <a:endParaRPr lang="en-US" sz="6800" dirty="0"/>
          </a:p>
        </p:txBody>
      </p:sp>
      <p:sp>
        <p:nvSpPr>
          <p:cNvPr id="4" name="Text 2"/>
          <p:cNvSpPr/>
          <p:nvPr/>
        </p:nvSpPr>
        <p:spPr>
          <a:xfrm>
            <a:off x="723900" y="312420"/>
            <a:ext cx="7315200" cy="457200"/>
          </a:xfrm>
          <a:prstGeom prst="rect">
            <a:avLst/>
          </a:prstGeom>
          <a:noFill/>
          <a:ln/>
        </p:spPr>
        <p:txBody>
          <a:bodyPr wrap="square" lIns="0" tIns="0" rIns="0" bIns="0" rtlCol="0" anchor="ctr"/>
          <a:lstStyle/>
          <a:p>
            <a:pPr marL="0" indent="0">
              <a:buNone/>
            </a:pPr>
            <a:r>
              <a:rPr lang="en-US" sz="2200" b="1" dirty="0">
                <a:latin typeface="Georgia" pitchFamily="34" charset="0"/>
                <a:ea typeface="Georgia" pitchFamily="34" charset="-122"/>
                <a:cs typeface="Georgia" pitchFamily="34" charset="-120"/>
              </a:rPr>
              <a:t>Three findings for legal history</a:t>
            </a:r>
            <a:endParaRPr lang="en-US" sz="2200" dirty="0"/>
          </a:p>
        </p:txBody>
      </p:sp>
      <p:sp>
        <p:nvSpPr>
          <p:cNvPr id="5" name="Text 3"/>
          <p:cNvSpPr/>
          <p:nvPr/>
        </p:nvSpPr>
        <p:spPr>
          <a:xfrm>
            <a:off x="502920" y="1203960"/>
            <a:ext cx="822960" cy="960120"/>
          </a:xfrm>
          <a:prstGeom prst="rect">
            <a:avLst/>
          </a:prstGeom>
          <a:noFill/>
          <a:ln/>
        </p:spPr>
        <p:txBody>
          <a:bodyPr wrap="square" lIns="0" tIns="0" rIns="0" bIns="0" rtlCol="0" anchor="ctr"/>
          <a:lstStyle/>
          <a:p>
            <a:pPr marL="0" indent="0" algn="ctr">
              <a:buNone/>
            </a:pPr>
            <a:r>
              <a:rPr lang="en-US" sz="3600" b="1" dirty="0">
                <a:latin typeface="Georgia" pitchFamily="34" charset="0"/>
                <a:ea typeface="Georgia" pitchFamily="34" charset="-122"/>
                <a:cs typeface="Georgia" pitchFamily="34" charset="-120"/>
              </a:rPr>
              <a:t>01</a:t>
            </a:r>
            <a:endParaRPr lang="en-US" sz="3600" dirty="0"/>
          </a:p>
        </p:txBody>
      </p:sp>
      <p:sp>
        <p:nvSpPr>
          <p:cNvPr id="6" name="Shape 4"/>
          <p:cNvSpPr/>
          <p:nvPr/>
        </p:nvSpPr>
        <p:spPr>
          <a:xfrm>
            <a:off x="1371600" y="1295400"/>
            <a:ext cx="0" cy="777240"/>
          </a:xfrm>
          <a:prstGeom prst="line">
            <a:avLst/>
          </a:prstGeom>
          <a:noFill/>
          <a:ln w="19050">
            <a:solidFill>
              <a:srgbClr val="C9A34E"/>
            </a:solidFill>
            <a:prstDash val="solid"/>
          </a:ln>
        </p:spPr>
        <p:txBody>
          <a:bodyPr/>
          <a:lstStyle/>
          <a:p>
            <a:endParaRPr lang="en-SG"/>
          </a:p>
        </p:txBody>
      </p:sp>
      <p:sp>
        <p:nvSpPr>
          <p:cNvPr id="7" name="Text 5"/>
          <p:cNvSpPr/>
          <p:nvPr/>
        </p:nvSpPr>
        <p:spPr>
          <a:xfrm>
            <a:off x="1554480" y="1249680"/>
            <a:ext cx="7315200" cy="320040"/>
          </a:xfrm>
          <a:prstGeom prst="rect">
            <a:avLst/>
          </a:prstGeom>
          <a:noFill/>
          <a:ln/>
        </p:spPr>
        <p:txBody>
          <a:bodyPr wrap="square" lIns="0" tIns="0" rIns="0" bIns="0" rtlCol="0" anchor="ctr"/>
          <a:lstStyle/>
          <a:p>
            <a:pPr marL="0" indent="0">
              <a:buNone/>
            </a:pPr>
            <a:r>
              <a:rPr lang="en-US" sz="1500" b="1" dirty="0">
                <a:latin typeface="Georgia" pitchFamily="34" charset="0"/>
                <a:ea typeface="Georgia" pitchFamily="34" charset="-122"/>
                <a:cs typeface="Georgia" pitchFamily="34" charset="-120"/>
              </a:rPr>
              <a:t>The raw numbers were misleading</a:t>
            </a:r>
            <a:endParaRPr lang="en-US" sz="1500" dirty="0"/>
          </a:p>
        </p:txBody>
      </p:sp>
      <p:sp>
        <p:nvSpPr>
          <p:cNvPr id="8" name="Text 6"/>
          <p:cNvSpPr/>
          <p:nvPr/>
        </p:nvSpPr>
        <p:spPr>
          <a:xfrm>
            <a:off x="1554480" y="1569720"/>
            <a:ext cx="7223760" cy="548640"/>
          </a:xfrm>
          <a:prstGeom prst="rect">
            <a:avLst/>
          </a:prstGeom>
          <a:noFill/>
          <a:ln/>
        </p:spPr>
        <p:txBody>
          <a:bodyPr wrap="square" lIns="0" tIns="0" rIns="0" bIns="0" rtlCol="0" anchor="t"/>
          <a:lstStyle/>
          <a:p>
            <a:pPr marL="0" indent="0">
              <a:buNone/>
            </a:pPr>
            <a:r>
              <a:rPr lang="en-US" sz="1150" dirty="0">
                <a:latin typeface="Calibri" pitchFamily="34" charset="0"/>
                <a:ea typeface="Calibri" pitchFamily="34" charset="-122"/>
                <a:cs typeface="Calibri" pitchFamily="34" charset="-120"/>
              </a:rPr>
              <a:t>Male-on-female cases looked lighter on average, but that was driven by offence-mix differences. Once we compared like-with-like, the direction reversed.</a:t>
            </a:r>
            <a:endParaRPr lang="en-US" sz="1150" dirty="0"/>
          </a:p>
        </p:txBody>
      </p:sp>
      <p:sp>
        <p:nvSpPr>
          <p:cNvPr id="9" name="Text 7"/>
          <p:cNvSpPr/>
          <p:nvPr/>
        </p:nvSpPr>
        <p:spPr>
          <a:xfrm>
            <a:off x="502920" y="2255520"/>
            <a:ext cx="822960" cy="960120"/>
          </a:xfrm>
          <a:prstGeom prst="rect">
            <a:avLst/>
          </a:prstGeom>
          <a:noFill/>
          <a:ln/>
        </p:spPr>
        <p:txBody>
          <a:bodyPr wrap="square" lIns="0" tIns="0" rIns="0" bIns="0" rtlCol="0" anchor="ctr"/>
          <a:lstStyle/>
          <a:p>
            <a:pPr marL="0" indent="0" algn="ctr">
              <a:buNone/>
            </a:pPr>
            <a:r>
              <a:rPr lang="en-US" sz="3600" b="1" dirty="0">
                <a:latin typeface="Georgia" pitchFamily="34" charset="0"/>
                <a:ea typeface="Georgia" pitchFamily="34" charset="-122"/>
                <a:cs typeface="Georgia" pitchFamily="34" charset="-120"/>
              </a:rPr>
              <a:t>02</a:t>
            </a:r>
            <a:endParaRPr lang="en-US" sz="3600" dirty="0"/>
          </a:p>
        </p:txBody>
      </p:sp>
      <p:sp>
        <p:nvSpPr>
          <p:cNvPr id="10" name="Shape 8"/>
          <p:cNvSpPr/>
          <p:nvPr/>
        </p:nvSpPr>
        <p:spPr>
          <a:xfrm>
            <a:off x="1371600" y="2346960"/>
            <a:ext cx="0" cy="777240"/>
          </a:xfrm>
          <a:prstGeom prst="line">
            <a:avLst/>
          </a:prstGeom>
          <a:noFill/>
          <a:ln w="19050">
            <a:solidFill>
              <a:srgbClr val="C9A34E"/>
            </a:solidFill>
            <a:prstDash val="solid"/>
          </a:ln>
        </p:spPr>
        <p:txBody>
          <a:bodyPr/>
          <a:lstStyle/>
          <a:p>
            <a:endParaRPr lang="en-SG"/>
          </a:p>
        </p:txBody>
      </p:sp>
      <p:sp>
        <p:nvSpPr>
          <p:cNvPr id="11" name="Text 9"/>
          <p:cNvSpPr/>
          <p:nvPr/>
        </p:nvSpPr>
        <p:spPr>
          <a:xfrm>
            <a:off x="1554480" y="2301240"/>
            <a:ext cx="7315200" cy="320040"/>
          </a:xfrm>
          <a:prstGeom prst="rect">
            <a:avLst/>
          </a:prstGeom>
          <a:noFill/>
          <a:ln/>
        </p:spPr>
        <p:txBody>
          <a:bodyPr wrap="square" lIns="0" tIns="0" rIns="0" bIns="0" rtlCol="0" anchor="ctr"/>
          <a:lstStyle/>
          <a:p>
            <a:pPr marL="0" indent="0">
              <a:buNone/>
            </a:pPr>
            <a:r>
              <a:rPr lang="en-US" sz="1500" b="1" dirty="0">
                <a:latin typeface="Georgia" pitchFamily="34" charset="0"/>
                <a:ea typeface="Georgia" pitchFamily="34" charset="-122"/>
                <a:cs typeface="Georgia" pitchFamily="34" charset="-120"/>
              </a:rPr>
              <a:t>The real finding: severe-band disparity</a:t>
            </a:r>
            <a:endParaRPr lang="en-US" sz="1500" dirty="0"/>
          </a:p>
        </p:txBody>
      </p:sp>
      <p:sp>
        <p:nvSpPr>
          <p:cNvPr id="12" name="Text 10"/>
          <p:cNvSpPr/>
          <p:nvPr/>
        </p:nvSpPr>
        <p:spPr>
          <a:xfrm>
            <a:off x="1554480" y="2639568"/>
            <a:ext cx="7223760" cy="548640"/>
          </a:xfrm>
          <a:prstGeom prst="rect">
            <a:avLst/>
          </a:prstGeom>
          <a:noFill/>
          <a:ln/>
        </p:spPr>
        <p:txBody>
          <a:bodyPr wrap="square" lIns="0" tIns="0" rIns="0" bIns="0" rtlCol="0" anchor="t"/>
          <a:lstStyle/>
          <a:p>
            <a:pPr marL="0" indent="0">
              <a:buNone/>
            </a:pPr>
            <a:r>
              <a:rPr lang="en-US" sz="1150" dirty="0">
                <a:latin typeface="Calibri" pitchFamily="34" charset="0"/>
                <a:ea typeface="Calibri" pitchFamily="34" charset="-122"/>
                <a:cs typeface="Calibri" pitchFamily="34" charset="-120"/>
              </a:rPr>
              <a:t>After adjustment, male-on-female cases were about 4 percentage points more likely to end in hard labour or worse. This is where judicial discretion showed its hand.</a:t>
            </a:r>
            <a:endParaRPr lang="en-US" sz="1150" dirty="0"/>
          </a:p>
        </p:txBody>
      </p:sp>
      <p:sp>
        <p:nvSpPr>
          <p:cNvPr id="13" name="Text 11"/>
          <p:cNvSpPr/>
          <p:nvPr/>
        </p:nvSpPr>
        <p:spPr>
          <a:xfrm>
            <a:off x="502920" y="3307080"/>
            <a:ext cx="822960" cy="960120"/>
          </a:xfrm>
          <a:prstGeom prst="rect">
            <a:avLst/>
          </a:prstGeom>
          <a:noFill/>
          <a:ln/>
        </p:spPr>
        <p:txBody>
          <a:bodyPr wrap="square" lIns="0" tIns="0" rIns="0" bIns="0" rtlCol="0" anchor="ctr"/>
          <a:lstStyle/>
          <a:p>
            <a:pPr marL="0" indent="0" algn="ctr">
              <a:buNone/>
            </a:pPr>
            <a:r>
              <a:rPr lang="en-US" sz="3600" b="1" dirty="0">
                <a:latin typeface="Georgia" pitchFamily="34" charset="0"/>
                <a:ea typeface="Georgia" pitchFamily="34" charset="-122"/>
                <a:cs typeface="Georgia" pitchFamily="34" charset="-120"/>
              </a:rPr>
              <a:t>03</a:t>
            </a:r>
            <a:endParaRPr lang="en-US" sz="3600" dirty="0"/>
          </a:p>
        </p:txBody>
      </p:sp>
      <p:sp>
        <p:nvSpPr>
          <p:cNvPr id="14" name="Shape 12"/>
          <p:cNvSpPr/>
          <p:nvPr/>
        </p:nvSpPr>
        <p:spPr>
          <a:xfrm>
            <a:off x="1371600" y="3398520"/>
            <a:ext cx="0" cy="777240"/>
          </a:xfrm>
          <a:prstGeom prst="line">
            <a:avLst/>
          </a:prstGeom>
          <a:noFill/>
          <a:ln w="19050">
            <a:solidFill>
              <a:srgbClr val="C9A34E"/>
            </a:solidFill>
            <a:prstDash val="solid"/>
          </a:ln>
        </p:spPr>
        <p:txBody>
          <a:bodyPr/>
          <a:lstStyle/>
          <a:p>
            <a:endParaRPr lang="en-SG"/>
          </a:p>
        </p:txBody>
      </p:sp>
      <p:sp>
        <p:nvSpPr>
          <p:cNvPr id="15" name="Text 13"/>
          <p:cNvSpPr/>
          <p:nvPr/>
        </p:nvSpPr>
        <p:spPr>
          <a:xfrm>
            <a:off x="1554480" y="3352800"/>
            <a:ext cx="7315200" cy="320040"/>
          </a:xfrm>
          <a:prstGeom prst="rect">
            <a:avLst/>
          </a:prstGeom>
          <a:noFill/>
          <a:ln/>
        </p:spPr>
        <p:txBody>
          <a:bodyPr wrap="square" lIns="0" tIns="0" rIns="0" bIns="0" rtlCol="0" anchor="ctr"/>
          <a:lstStyle/>
          <a:p>
            <a:pPr marL="0" indent="0">
              <a:buNone/>
            </a:pPr>
            <a:r>
              <a:rPr lang="en-US" sz="1500" b="1" dirty="0">
                <a:latin typeface="Georgia" pitchFamily="34" charset="0"/>
                <a:ea typeface="Georgia" pitchFamily="34" charset="-122"/>
                <a:cs typeface="Georgia" pitchFamily="34" charset="-120"/>
              </a:rPr>
              <a:t>Capital sentencing: smaller than it looks</a:t>
            </a:r>
            <a:endParaRPr lang="en-US" sz="1500" dirty="0"/>
          </a:p>
        </p:txBody>
      </p:sp>
      <p:sp>
        <p:nvSpPr>
          <p:cNvPr id="16" name="Text 14"/>
          <p:cNvSpPr/>
          <p:nvPr/>
        </p:nvSpPr>
        <p:spPr>
          <a:xfrm>
            <a:off x="1554480" y="3691128"/>
            <a:ext cx="7223760" cy="548640"/>
          </a:xfrm>
          <a:prstGeom prst="rect">
            <a:avLst/>
          </a:prstGeom>
          <a:noFill/>
          <a:ln/>
        </p:spPr>
        <p:txBody>
          <a:bodyPr wrap="square" lIns="0" tIns="0" rIns="0" bIns="0" rtlCol="0" anchor="t"/>
          <a:lstStyle/>
          <a:p>
            <a:pPr marL="0" indent="0">
              <a:buNone/>
            </a:pPr>
            <a:r>
              <a:rPr lang="en-US" sz="1150" dirty="0">
                <a:latin typeface="Calibri" pitchFamily="34" charset="0"/>
                <a:ea typeface="Calibri" pitchFamily="34" charset="-122"/>
                <a:cs typeface="Calibri" pitchFamily="34" charset="-120"/>
              </a:rPr>
              <a:t>The 7× raw capital-rate gap is mostly explained by offence-type differences. A residual effect of less than half a percentage point survives adjustment.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B9440-2AF2-2C86-E299-DCD664078487}"/>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A609BFA9-CBC8-73A8-145B-30DF286CFB20}"/>
              </a:ext>
            </a:extLst>
          </p:cNvPr>
          <p:cNvSpPr/>
          <p:nvPr/>
        </p:nvSpPr>
        <p:spPr>
          <a:xfrm>
            <a:off x="594361" y="2324100"/>
            <a:ext cx="7680960" cy="457200"/>
          </a:xfrm>
          <a:prstGeom prst="rect">
            <a:avLst/>
          </a:prstGeom>
          <a:noFill/>
          <a:ln/>
        </p:spPr>
        <p:txBody>
          <a:bodyPr wrap="square" lIns="0" tIns="0" rIns="0" bIns="0" rtlCol="0" anchor="ctr"/>
          <a:lstStyle/>
          <a:p>
            <a:pPr marL="0" indent="0">
              <a:buNone/>
            </a:pPr>
            <a:endParaRPr lang="en-US" sz="2200" dirty="0"/>
          </a:p>
        </p:txBody>
      </p:sp>
      <p:sp>
        <p:nvSpPr>
          <p:cNvPr id="7" name="Shape 5">
            <a:extLst>
              <a:ext uri="{FF2B5EF4-FFF2-40B4-BE49-F238E27FC236}">
                <a16:creationId xmlns:a16="http://schemas.microsoft.com/office/drawing/2014/main" id="{1D9A4596-BAC0-63D6-25C0-6E62FDF4AF97}"/>
              </a:ext>
            </a:extLst>
          </p:cNvPr>
          <p:cNvSpPr/>
          <p:nvPr/>
        </p:nvSpPr>
        <p:spPr>
          <a:xfrm>
            <a:off x="502920" y="1188720"/>
            <a:ext cx="4023360" cy="2301240"/>
          </a:xfrm>
          <a:prstGeom prst="rect">
            <a:avLst/>
          </a:prstGeom>
          <a:solidFill>
            <a:srgbClr val="FFFFFF"/>
          </a:solidFill>
          <a:ln w="12700">
            <a:solidFill>
              <a:srgbClr val="ECE2D0"/>
            </a:solidFill>
            <a:prstDash val="solid"/>
          </a:ln>
        </p:spPr>
        <p:txBody>
          <a:bodyPr/>
          <a:lstStyle/>
          <a:p>
            <a:endParaRPr lang="en-SG"/>
          </a:p>
        </p:txBody>
      </p:sp>
      <p:sp>
        <p:nvSpPr>
          <p:cNvPr id="8" name="Shape 6">
            <a:extLst>
              <a:ext uri="{FF2B5EF4-FFF2-40B4-BE49-F238E27FC236}">
                <a16:creationId xmlns:a16="http://schemas.microsoft.com/office/drawing/2014/main" id="{76805B5D-37F9-6305-B9CC-9F2449C603C7}"/>
              </a:ext>
            </a:extLst>
          </p:cNvPr>
          <p:cNvSpPr/>
          <p:nvPr/>
        </p:nvSpPr>
        <p:spPr>
          <a:xfrm>
            <a:off x="502920" y="1188720"/>
            <a:ext cx="4023360" cy="457200"/>
          </a:xfrm>
          <a:prstGeom prst="rect">
            <a:avLst/>
          </a:prstGeom>
          <a:solidFill>
            <a:srgbClr val="50808E"/>
          </a:solidFill>
          <a:ln w="12700">
            <a:solidFill>
              <a:srgbClr val="50808E"/>
            </a:solidFill>
            <a:prstDash val="solid"/>
          </a:ln>
        </p:spPr>
        <p:txBody>
          <a:bodyPr/>
          <a:lstStyle/>
          <a:p>
            <a:endParaRPr lang="en-SG"/>
          </a:p>
        </p:txBody>
      </p:sp>
      <p:sp>
        <p:nvSpPr>
          <p:cNvPr id="9" name="Text 7">
            <a:extLst>
              <a:ext uri="{FF2B5EF4-FFF2-40B4-BE49-F238E27FC236}">
                <a16:creationId xmlns:a16="http://schemas.microsoft.com/office/drawing/2014/main" id="{1F7A22DF-9660-7E1A-A1D4-475B4DE51069}"/>
              </a:ext>
            </a:extLst>
          </p:cNvPr>
          <p:cNvSpPr/>
          <p:nvPr/>
        </p:nvSpPr>
        <p:spPr>
          <a:xfrm>
            <a:off x="685800" y="1219200"/>
            <a:ext cx="3840480"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Georgia" pitchFamily="34" charset="0"/>
                <a:ea typeface="Georgia" pitchFamily="34" charset="-122"/>
                <a:cs typeface="Georgia" pitchFamily="34" charset="-120"/>
              </a:rPr>
              <a:t>WHAT WE TESTED</a:t>
            </a:r>
            <a:endParaRPr lang="en-US" sz="1200" dirty="0"/>
          </a:p>
        </p:txBody>
      </p:sp>
      <p:sp>
        <p:nvSpPr>
          <p:cNvPr id="10" name="Text 8">
            <a:extLst>
              <a:ext uri="{FF2B5EF4-FFF2-40B4-BE49-F238E27FC236}">
                <a16:creationId xmlns:a16="http://schemas.microsoft.com/office/drawing/2014/main" id="{7359E35E-1AE1-9E93-BBC3-2035DE638607}"/>
              </a:ext>
            </a:extLst>
          </p:cNvPr>
          <p:cNvSpPr/>
          <p:nvPr/>
        </p:nvSpPr>
        <p:spPr>
          <a:xfrm>
            <a:off x="701040" y="1720596"/>
            <a:ext cx="3840480" cy="2148840"/>
          </a:xfrm>
          <a:prstGeom prst="rect">
            <a:avLst/>
          </a:prstGeom>
          <a:noFill/>
          <a:ln/>
        </p:spPr>
        <p:txBody>
          <a:bodyPr wrap="square" lIns="0" tIns="0" rIns="0" bIns="0" rtlCol="0" anchor="t"/>
          <a:lstStyle/>
          <a:p>
            <a:pPr marL="342900" indent="-342900">
              <a:buSzPct val="100000"/>
              <a:buChar char="•"/>
            </a:pPr>
            <a:r>
              <a:rPr lang="en-US" sz="1050" dirty="0">
                <a:solidFill>
                  <a:srgbClr val="1F1A24"/>
                </a:solidFill>
                <a:latin typeface="Calibri" pitchFamily="34" charset="0"/>
                <a:ea typeface="Calibri" pitchFamily="34" charset="-122"/>
                <a:cs typeface="Calibri" pitchFamily="34" charset="-120"/>
              </a:rPr>
              <a:t>Five independent methods agreed on direction</a:t>
            </a:r>
            <a:endParaRPr lang="en-US" sz="1050" dirty="0"/>
          </a:p>
          <a:p>
            <a:pPr marL="0" indent="0">
              <a:buNone/>
            </a:pPr>
            <a:endParaRPr lang="en-US" sz="1050" dirty="0"/>
          </a:p>
          <a:p>
            <a:pPr marL="342900" indent="-342900">
              <a:buSzPct val="100000"/>
              <a:buChar char="•"/>
            </a:pPr>
            <a:r>
              <a:rPr lang="en-US" sz="1050" dirty="0">
                <a:solidFill>
                  <a:srgbClr val="1F1A24"/>
                </a:solidFill>
                <a:latin typeface="Calibri" pitchFamily="34" charset="0"/>
                <a:ea typeface="Calibri" pitchFamily="34" charset="-122"/>
                <a:cs typeface="Calibri" pitchFamily="34" charset="-120"/>
              </a:rPr>
              <a:t>Covariate balance passed (|SMD| &lt; 0.1)</a:t>
            </a:r>
            <a:endParaRPr lang="en-US" sz="1050" dirty="0"/>
          </a:p>
          <a:p>
            <a:pPr marL="0" indent="0">
              <a:buNone/>
            </a:pPr>
            <a:endParaRPr lang="en-US" sz="1050" dirty="0"/>
          </a:p>
          <a:p>
            <a:pPr marL="342900" indent="-342900">
              <a:buSzPct val="100000"/>
              <a:buChar char="•"/>
            </a:pPr>
            <a:r>
              <a:rPr lang="en-US" sz="1050" dirty="0">
                <a:solidFill>
                  <a:srgbClr val="1F1A24"/>
                </a:solidFill>
                <a:latin typeface="Calibri" pitchFamily="34" charset="0"/>
                <a:ea typeface="Calibri" pitchFamily="34" charset="-122"/>
                <a:cs typeface="Calibri" pitchFamily="34" charset="-120"/>
              </a:rPr>
              <a:t>Placebo treatment collapsed to zero</a:t>
            </a:r>
            <a:endParaRPr lang="en-US" sz="1050" dirty="0"/>
          </a:p>
          <a:p>
            <a:pPr marL="0" indent="0">
              <a:buNone/>
            </a:pPr>
            <a:endParaRPr lang="en-US" sz="1050" dirty="0"/>
          </a:p>
          <a:p>
            <a:pPr marL="342900" indent="-342900">
              <a:buSzPct val="100000"/>
              <a:buChar char="•"/>
            </a:pPr>
            <a:r>
              <a:rPr lang="en-US" sz="1050" dirty="0">
                <a:solidFill>
                  <a:srgbClr val="1F1A24"/>
                </a:solidFill>
                <a:latin typeface="Calibri" pitchFamily="34" charset="0"/>
                <a:ea typeface="Calibri" pitchFamily="34" charset="-122"/>
                <a:cs typeface="Calibri" pitchFamily="34" charset="-120"/>
              </a:rPr>
              <a:t>Random common cause left estimates unchanged</a:t>
            </a:r>
            <a:endParaRPr lang="en-US" sz="1050" dirty="0"/>
          </a:p>
          <a:p>
            <a:pPr marL="0" indent="0">
              <a:buNone/>
            </a:pPr>
            <a:endParaRPr lang="en-US" sz="1050" dirty="0"/>
          </a:p>
          <a:p>
            <a:pPr marL="342900" indent="-342900">
              <a:buSzPct val="100000"/>
              <a:buChar char="•"/>
            </a:pPr>
            <a:r>
              <a:rPr lang="en-US" sz="1050" dirty="0">
                <a:solidFill>
                  <a:srgbClr val="1F1A24"/>
                </a:solidFill>
                <a:latin typeface="Calibri" pitchFamily="34" charset="0"/>
                <a:ea typeface="Calibri" pitchFamily="34" charset="-122"/>
                <a:cs typeface="Calibri" pitchFamily="34" charset="-120"/>
              </a:rPr>
              <a:t>Data-subset refuter: estimates stable</a:t>
            </a:r>
            <a:endParaRPr lang="en-US" sz="1050" dirty="0"/>
          </a:p>
        </p:txBody>
      </p:sp>
      <p:sp>
        <p:nvSpPr>
          <p:cNvPr id="11" name="Shape 9">
            <a:extLst>
              <a:ext uri="{FF2B5EF4-FFF2-40B4-BE49-F238E27FC236}">
                <a16:creationId xmlns:a16="http://schemas.microsoft.com/office/drawing/2014/main" id="{A598DEAD-E2FC-9CAE-C521-B7399965BC26}"/>
              </a:ext>
            </a:extLst>
          </p:cNvPr>
          <p:cNvSpPr/>
          <p:nvPr/>
        </p:nvSpPr>
        <p:spPr>
          <a:xfrm>
            <a:off x="4709160" y="1219200"/>
            <a:ext cx="4023360" cy="2301240"/>
          </a:xfrm>
          <a:prstGeom prst="rect">
            <a:avLst/>
          </a:prstGeom>
          <a:solidFill>
            <a:srgbClr val="FFFFFF"/>
          </a:solidFill>
          <a:ln w="12700">
            <a:solidFill>
              <a:srgbClr val="ECE2D0"/>
            </a:solidFill>
            <a:prstDash val="solid"/>
          </a:ln>
        </p:spPr>
        <p:txBody>
          <a:bodyPr/>
          <a:lstStyle/>
          <a:p>
            <a:endParaRPr lang="en-SG"/>
          </a:p>
        </p:txBody>
      </p:sp>
      <p:sp>
        <p:nvSpPr>
          <p:cNvPr id="12" name="Shape 10">
            <a:extLst>
              <a:ext uri="{FF2B5EF4-FFF2-40B4-BE49-F238E27FC236}">
                <a16:creationId xmlns:a16="http://schemas.microsoft.com/office/drawing/2014/main" id="{814ED12C-AC90-86D7-9F4E-69A94DAC8829}"/>
              </a:ext>
            </a:extLst>
          </p:cNvPr>
          <p:cNvSpPr/>
          <p:nvPr/>
        </p:nvSpPr>
        <p:spPr>
          <a:xfrm>
            <a:off x="4709160" y="1219200"/>
            <a:ext cx="4023360" cy="457200"/>
          </a:xfrm>
          <a:prstGeom prst="rect">
            <a:avLst/>
          </a:prstGeom>
          <a:solidFill>
            <a:srgbClr val="C9A34E"/>
          </a:solidFill>
          <a:ln w="12700">
            <a:solidFill>
              <a:srgbClr val="C9A34E"/>
            </a:solidFill>
            <a:prstDash val="solid"/>
          </a:ln>
        </p:spPr>
        <p:txBody>
          <a:bodyPr/>
          <a:lstStyle/>
          <a:p>
            <a:endParaRPr lang="en-SG"/>
          </a:p>
        </p:txBody>
      </p:sp>
      <p:sp>
        <p:nvSpPr>
          <p:cNvPr id="13" name="Text 11">
            <a:extLst>
              <a:ext uri="{FF2B5EF4-FFF2-40B4-BE49-F238E27FC236}">
                <a16:creationId xmlns:a16="http://schemas.microsoft.com/office/drawing/2014/main" id="{DB8EC770-E8B4-FA5A-0249-6055F95B2DE3}"/>
              </a:ext>
            </a:extLst>
          </p:cNvPr>
          <p:cNvSpPr/>
          <p:nvPr/>
        </p:nvSpPr>
        <p:spPr>
          <a:xfrm>
            <a:off x="4892040" y="1219200"/>
            <a:ext cx="3840480"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Georgia" pitchFamily="34" charset="0"/>
                <a:ea typeface="Georgia" pitchFamily="34" charset="-122"/>
                <a:cs typeface="Georgia" pitchFamily="34" charset="-120"/>
              </a:rPr>
              <a:t>Limitation</a:t>
            </a:r>
            <a:endParaRPr lang="en-US" sz="1200" dirty="0"/>
          </a:p>
        </p:txBody>
      </p:sp>
      <p:sp>
        <p:nvSpPr>
          <p:cNvPr id="14" name="Text 12">
            <a:extLst>
              <a:ext uri="{FF2B5EF4-FFF2-40B4-BE49-F238E27FC236}">
                <a16:creationId xmlns:a16="http://schemas.microsoft.com/office/drawing/2014/main" id="{25151AC9-7EB8-B9E9-177A-D5880C5C7241}"/>
              </a:ext>
            </a:extLst>
          </p:cNvPr>
          <p:cNvSpPr/>
          <p:nvPr/>
        </p:nvSpPr>
        <p:spPr>
          <a:xfrm>
            <a:off x="4892040" y="1783080"/>
            <a:ext cx="3840480" cy="2148840"/>
          </a:xfrm>
          <a:prstGeom prst="rect">
            <a:avLst/>
          </a:prstGeom>
          <a:noFill/>
          <a:ln/>
        </p:spPr>
        <p:txBody>
          <a:bodyPr wrap="square" lIns="0" tIns="0" rIns="0" bIns="0" rtlCol="0" anchor="t"/>
          <a:lstStyle/>
          <a:p>
            <a:pPr marL="342900" indent="-342900">
              <a:buSzPct val="100000"/>
              <a:buChar char="•"/>
            </a:pPr>
            <a:r>
              <a:rPr lang="en-US" sz="1050" dirty="0">
                <a:solidFill>
                  <a:srgbClr val="1F1A24"/>
                </a:solidFill>
                <a:latin typeface="Calibri" pitchFamily="34" charset="0"/>
                <a:ea typeface="Calibri" pitchFamily="34" charset="-122"/>
                <a:cs typeface="Calibri" pitchFamily="34" charset="-120"/>
              </a:rPr>
              <a:t>Judge identity, priors, plea, counsel are all unobserved</a:t>
            </a:r>
            <a:endParaRPr lang="en-US" sz="1050" dirty="0"/>
          </a:p>
          <a:p>
            <a:pPr marL="0" indent="0">
              <a:buNone/>
            </a:pPr>
            <a:endParaRPr lang="en-US" sz="1050" dirty="0"/>
          </a:p>
          <a:p>
            <a:pPr marL="342900" indent="-342900">
              <a:buSzPct val="100000"/>
              <a:buChar char="•"/>
            </a:pPr>
            <a:r>
              <a:rPr lang="en-US" sz="1050" dirty="0">
                <a:solidFill>
                  <a:srgbClr val="1F1A24"/>
                </a:solidFill>
                <a:latin typeface="Calibri" pitchFamily="34" charset="0"/>
                <a:ea typeface="Calibri" pitchFamily="34" charset="-122"/>
                <a:cs typeface="Calibri" pitchFamily="34" charset="-120"/>
              </a:rPr>
              <a:t>LDA topics are noisy proxies for offence type</a:t>
            </a:r>
            <a:endParaRPr lang="en-US" sz="1050" dirty="0"/>
          </a:p>
          <a:p>
            <a:pPr marL="0" indent="0">
              <a:buNone/>
            </a:pPr>
            <a:endParaRPr lang="en-US" sz="1050" dirty="0"/>
          </a:p>
          <a:p>
            <a:pPr marL="342900" indent="-342900">
              <a:buSzPct val="100000"/>
              <a:buChar char="•"/>
            </a:pPr>
            <a:r>
              <a:rPr lang="en-US" sz="1050" dirty="0">
                <a:solidFill>
                  <a:srgbClr val="1F1A24"/>
                </a:solidFill>
                <a:latin typeface="Calibri" pitchFamily="34" charset="0"/>
                <a:ea typeface="Calibri" pitchFamily="34" charset="-122"/>
                <a:cs typeface="Calibri" pitchFamily="34" charset="-120"/>
              </a:rPr>
              <a:t>Only 75 capital sentences — small absolute counts</a:t>
            </a:r>
            <a:endParaRPr lang="en-US" sz="1050" dirty="0"/>
          </a:p>
          <a:p>
            <a:pPr marL="0" indent="0">
              <a:buNone/>
            </a:pPr>
            <a:endParaRPr lang="en-US" sz="1050" dirty="0"/>
          </a:p>
          <a:p>
            <a:pPr marL="342900" indent="-342900">
              <a:buSzPct val="100000"/>
              <a:buChar char="•"/>
            </a:pPr>
            <a:r>
              <a:rPr lang="en-US" sz="1050" dirty="0">
                <a:solidFill>
                  <a:srgbClr val="1F1A24"/>
                </a:solidFill>
                <a:latin typeface="Calibri" pitchFamily="34" charset="0"/>
                <a:ea typeface="Calibri" pitchFamily="34" charset="-122"/>
                <a:cs typeface="Calibri" pitchFamily="34" charset="-120"/>
              </a:rPr>
              <a:t>Cannot separate defendant vs victim effects</a:t>
            </a:r>
            <a:endParaRPr lang="en-US" sz="1050" dirty="0"/>
          </a:p>
          <a:p>
            <a:pPr marL="0" indent="0">
              <a:buNone/>
            </a:pPr>
            <a:endParaRPr lang="en-US" sz="1050" dirty="0"/>
          </a:p>
          <a:p>
            <a:pPr marL="342900" indent="-342900">
              <a:buSzPct val="100000"/>
              <a:buChar char="•"/>
            </a:pPr>
            <a:r>
              <a:rPr lang="en-US" sz="1050" dirty="0">
                <a:latin typeface="Calibri" pitchFamily="34" charset="0"/>
                <a:ea typeface="Calibri" pitchFamily="34" charset="-122"/>
                <a:cs typeface="Calibri" pitchFamily="34" charset="-120"/>
              </a:rPr>
              <a:t>Findings do NOT transfer to modern sentencing</a:t>
            </a:r>
            <a:endParaRPr lang="en-US" sz="1050" dirty="0"/>
          </a:p>
        </p:txBody>
      </p:sp>
      <p:sp>
        <p:nvSpPr>
          <p:cNvPr id="2" name="Text 12"/>
          <p:cNvSpPr/>
          <p:nvPr/>
        </p:nvSpPr>
        <p:spPr>
          <a:xfrm>
            <a:off x="449580" y="4133088"/>
            <a:ext cx="8321040" cy="594360"/>
          </a:xfrm>
          <a:prstGeom prst="rect">
            <a:avLst/>
          </a:prstGeom>
          <a:noFill/>
          <a:ln/>
        </p:spPr>
        <p:txBody>
          <a:bodyPr wrap="square" lIns="0" tIns="0" rIns="0" bIns="0" rtlCol="0" anchor="ctr"/>
          <a:lstStyle/>
          <a:p>
            <a:pPr marL="0" indent="0">
              <a:buNone/>
            </a:pPr>
            <a:r>
              <a:rPr lang="en-US" sz="1100" dirty="0">
                <a:solidFill>
                  <a:srgbClr val="1F1A24"/>
                </a:solidFill>
                <a:latin typeface="Calibri" pitchFamily="34" charset="0"/>
                <a:ea typeface="Calibri" pitchFamily="34" charset="-122"/>
                <a:cs typeface="Calibri" pitchFamily="34" charset="-120"/>
              </a:rPr>
              <a:t>It does not say anything about modern sentencing. Different statutes, procedures, and discretion rules. Do not use as evidence about present-day courts.</a:t>
            </a:r>
          </a:p>
          <a:p>
            <a:r>
              <a:rPr lang="en-US" sz="1100" dirty="0">
                <a:solidFill>
                  <a:srgbClr val="1F1A24"/>
                </a:solidFill>
                <a:latin typeface="Calibri" pitchFamily="34" charset="0"/>
                <a:ea typeface="Calibri" pitchFamily="34" charset="-122"/>
                <a:cs typeface="Calibri" pitchFamily="34" charset="-120"/>
              </a:rPr>
              <a:t>It does not isolate the defendant's gender from the victim's gender. The treatment is an interaction — we cannot disentangle the two without stronger assumptions.</a:t>
            </a:r>
          </a:p>
          <a:p>
            <a:r>
              <a:rPr lang="en-US" sz="1100" dirty="0">
                <a:solidFill>
                  <a:srgbClr val="1F1A24"/>
                </a:solidFill>
                <a:latin typeface="Calibri" pitchFamily="34" charset="0"/>
                <a:ea typeface="Calibri" pitchFamily="34" charset="-122"/>
                <a:cs typeface="Calibri" pitchFamily="34" charset="-120"/>
              </a:rPr>
              <a:t>It does not mean every male-on-female case got harsher treatment. The effect is a population average, concentrated in a subset of offence categories.</a:t>
            </a:r>
            <a:endParaRPr lang="en-US" sz="1100" dirty="0"/>
          </a:p>
          <a:p>
            <a:endParaRPr lang="en-US" sz="1100" dirty="0">
              <a:solidFill>
                <a:srgbClr val="1F1A24"/>
              </a:solidFill>
              <a:latin typeface="Calibri" pitchFamily="34" charset="0"/>
              <a:ea typeface="Calibri" pitchFamily="34" charset="-122"/>
              <a:cs typeface="Calibri" pitchFamily="34" charset="-120"/>
            </a:endParaRPr>
          </a:p>
          <a:p>
            <a:endParaRPr lang="en-US" sz="1100" dirty="0"/>
          </a:p>
          <a:p>
            <a:pPr marL="0" indent="0">
              <a:buNone/>
            </a:pPr>
            <a:endParaRPr lang="en-US" sz="1100" dirty="0"/>
          </a:p>
        </p:txBody>
      </p:sp>
      <p:sp>
        <p:nvSpPr>
          <p:cNvPr id="18" name="Text 16"/>
          <p:cNvSpPr/>
          <p:nvPr/>
        </p:nvSpPr>
        <p:spPr>
          <a:xfrm>
            <a:off x="449580" y="4392168"/>
            <a:ext cx="8321040" cy="594360"/>
          </a:xfrm>
          <a:prstGeom prst="rect">
            <a:avLst/>
          </a:prstGeom>
          <a:noFill/>
          <a:ln/>
        </p:spPr>
        <p:txBody>
          <a:bodyPr wrap="square" lIns="0" tIns="0" rIns="0" bIns="0" rtlCol="0" anchor="ctr"/>
          <a:lstStyle/>
          <a:p>
            <a:pPr marL="0" indent="0">
              <a:buNone/>
            </a:pPr>
            <a:endParaRPr lang="en-US" sz="1100" dirty="0"/>
          </a:p>
        </p:txBody>
      </p:sp>
      <p:sp>
        <p:nvSpPr>
          <p:cNvPr id="22" name="Text 20"/>
          <p:cNvSpPr/>
          <p:nvPr/>
        </p:nvSpPr>
        <p:spPr>
          <a:xfrm>
            <a:off x="411480" y="5187696"/>
            <a:ext cx="8321040" cy="594360"/>
          </a:xfrm>
          <a:prstGeom prst="rect">
            <a:avLst/>
          </a:prstGeom>
          <a:noFill/>
          <a:ln/>
        </p:spPr>
        <p:txBody>
          <a:bodyPr wrap="square" lIns="0" tIns="0" rIns="0" bIns="0" rtlCol="0" anchor="ctr"/>
          <a:lstStyle/>
          <a:p>
            <a:pPr marL="0" indent="0">
              <a:buNone/>
            </a:pPr>
            <a:endParaRPr lang="en-US" sz="1100" dirty="0"/>
          </a:p>
        </p:txBody>
      </p:sp>
    </p:spTree>
    <p:extLst>
      <p:ext uri="{BB962C8B-B14F-4D97-AF65-F5344CB8AC3E}">
        <p14:creationId xmlns:p14="http://schemas.microsoft.com/office/powerpoint/2010/main" val="1968655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3132B-53AF-96CB-716F-96923F892BFC}"/>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D9198C1-DF62-BCF0-CDA5-5F686B30C13A}"/>
              </a:ext>
            </a:extLst>
          </p:cNvPr>
          <p:cNvSpPr/>
          <p:nvPr/>
        </p:nvSpPr>
        <p:spPr>
          <a:xfrm>
            <a:off x="3703320" y="2426970"/>
            <a:ext cx="2095500" cy="457200"/>
          </a:xfrm>
          <a:prstGeom prst="rect">
            <a:avLst/>
          </a:prstGeom>
          <a:noFill/>
          <a:ln/>
        </p:spPr>
        <p:txBody>
          <a:bodyPr wrap="square" lIns="0" tIns="0" rIns="0" bIns="0" rtlCol="0" anchor="ctr"/>
          <a:lstStyle/>
          <a:p>
            <a:pPr marL="0" indent="0">
              <a:buNone/>
            </a:pPr>
            <a:r>
              <a:rPr lang="en-US" sz="2200" b="1" dirty="0">
                <a:latin typeface="Georgia" pitchFamily="34" charset="0"/>
                <a:ea typeface="Georgia" pitchFamily="34" charset="-122"/>
                <a:cs typeface="Georgia" pitchFamily="34" charset="-120"/>
              </a:rPr>
              <a:t>Thank You!</a:t>
            </a:r>
            <a:endParaRPr lang="en-US" sz="2200" dirty="0"/>
          </a:p>
        </p:txBody>
      </p:sp>
      <p:sp>
        <p:nvSpPr>
          <p:cNvPr id="13" name="Text 11">
            <a:extLst>
              <a:ext uri="{FF2B5EF4-FFF2-40B4-BE49-F238E27FC236}">
                <a16:creationId xmlns:a16="http://schemas.microsoft.com/office/drawing/2014/main" id="{2DAAEED4-76F3-F909-53FB-76DB30615F51}"/>
              </a:ext>
            </a:extLst>
          </p:cNvPr>
          <p:cNvSpPr/>
          <p:nvPr/>
        </p:nvSpPr>
        <p:spPr>
          <a:xfrm>
            <a:off x="502920" y="3307080"/>
            <a:ext cx="822960" cy="960120"/>
          </a:xfrm>
          <a:prstGeom prst="rect">
            <a:avLst/>
          </a:prstGeom>
          <a:noFill/>
          <a:ln/>
        </p:spPr>
        <p:txBody>
          <a:bodyPr wrap="square" lIns="0" tIns="0" rIns="0" bIns="0" rtlCol="0" anchor="ctr"/>
          <a:lstStyle/>
          <a:p>
            <a:pPr marL="0" indent="0" algn="ctr">
              <a:buNone/>
            </a:pPr>
            <a:endParaRPr lang="en-US" sz="3600" dirty="0"/>
          </a:p>
        </p:txBody>
      </p:sp>
    </p:spTree>
    <p:extLst>
      <p:ext uri="{BB962C8B-B14F-4D97-AF65-F5344CB8AC3E}">
        <p14:creationId xmlns:p14="http://schemas.microsoft.com/office/powerpoint/2010/main" val="2245374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148</TotalTime>
  <Words>2283</Words>
  <Application>Microsoft Office PowerPoint</Application>
  <PresentationFormat>On-screen Show (16:9)</PresentationFormat>
  <Paragraphs>177</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Did Victorian Courts Treat Male-on-Female Cases Differently? (corrected)</dc:title>
  <dc:subject>PptxGenJS Presentation</dc:subject>
  <dc:creator>Data Science Team</dc:creator>
  <cp:lastModifiedBy>918975370946</cp:lastModifiedBy>
  <cp:revision>43</cp:revision>
  <dcterms:created xsi:type="dcterms:W3CDTF">2026-04-21T02:12:05Z</dcterms:created>
  <dcterms:modified xsi:type="dcterms:W3CDTF">2026-04-21T08:50:04Z</dcterms:modified>
</cp:coreProperties>
</file>